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7" r:id="rId4"/>
    <p:sldId id="258" r:id="rId5"/>
    <p:sldId id="259" r:id="rId6"/>
    <p:sldId id="271" r:id="rId7"/>
    <p:sldId id="272" r:id="rId8"/>
    <p:sldId id="273" r:id="rId9"/>
    <p:sldId id="270" r:id="rId10"/>
    <p:sldId id="279" r:id="rId11"/>
    <p:sldId id="260" r:id="rId12"/>
    <p:sldId id="274" r:id="rId13"/>
    <p:sldId id="275" r:id="rId14"/>
    <p:sldId id="276" r:id="rId15"/>
    <p:sldId id="277" r:id="rId16"/>
    <p:sldId id="278" r:id="rId17"/>
    <p:sldId id="261" r:id="rId18"/>
    <p:sldId id="262" r:id="rId19"/>
    <p:sldId id="263" r:id="rId20"/>
    <p:sldId id="280" r:id="rId21"/>
    <p:sldId id="281" r:id="rId22"/>
    <p:sldId id="282" r:id="rId23"/>
    <p:sldId id="283" r:id="rId24"/>
    <p:sldId id="264" r:id="rId25"/>
    <p:sldId id="265" r:id="rId26"/>
    <p:sldId id="284" r:id="rId27"/>
    <p:sldId id="285" r:id="rId28"/>
    <p:sldId id="28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5222"/>
  </p:normalViewPr>
  <p:slideViewPr>
    <p:cSldViewPr snapToGrid="0" snapToObjects="1">
      <p:cViewPr varScale="1">
        <p:scale>
          <a:sx n="119" d="100"/>
          <a:sy n="119" d="100"/>
        </p:scale>
        <p:origin x="21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Consumer Ad Click Prediction</a:t>
            </a:r>
            <a:endParaRPr dirty="0"/>
          </a:p>
        </p:txBody>
      </p:sp>
      <p:sp>
        <p:nvSpPr>
          <p:cNvPr id="3" name="Subtitle 2"/>
          <p:cNvSpPr>
            <a:spLocks noGrp="1"/>
          </p:cNvSpPr>
          <p:nvPr>
            <p:ph type="subTitle" idx="1"/>
          </p:nvPr>
        </p:nvSpPr>
        <p:spPr/>
        <p:txBody>
          <a:bodyPr>
            <a:normAutofit/>
          </a:bodyPr>
          <a:lstStyle/>
          <a:p>
            <a:r>
              <a:rPr lang="en-US" sz="2400" b="1" dirty="0">
                <a:solidFill>
                  <a:schemeClr val="tx1"/>
                </a:solidFill>
              </a:rPr>
              <a:t>By</a:t>
            </a:r>
            <a:r>
              <a:rPr lang="en-US" b="1" dirty="0">
                <a:solidFill>
                  <a:schemeClr val="tx1"/>
                </a:solidFill>
              </a:rPr>
              <a:t> Fathema </a:t>
            </a:r>
            <a:r>
              <a:rPr lang="en-US" b="1" dirty="0" err="1">
                <a:solidFill>
                  <a:schemeClr val="tx1"/>
                </a:solidFill>
              </a:rPr>
              <a:t>Othmn</a:t>
            </a:r>
            <a:endParaRPr lang="en-US" b="1" dirty="0">
              <a:solidFill>
                <a:schemeClr val="tx1"/>
              </a:solidFill>
            </a:endParaRPr>
          </a:p>
          <a:p>
            <a:r>
              <a:rPr lang="en-US" b="1" dirty="0">
                <a:solidFill>
                  <a:schemeClr val="tx1"/>
                </a:solidFill>
              </a:rPr>
              <a:t>Lotam Ben </a:t>
            </a:r>
            <a:r>
              <a:rPr lang="en-US" b="1" dirty="0" err="1">
                <a:solidFill>
                  <a:schemeClr val="tx1"/>
                </a:solidFill>
              </a:rPr>
              <a:t>Yakove</a:t>
            </a:r>
            <a:endParaRPr lang="en-US" b="1" dirty="0">
              <a:solidFill>
                <a:schemeClr val="tx1"/>
              </a:solidFill>
            </a:endParaRPr>
          </a:p>
          <a:p>
            <a:r>
              <a:rPr lang="en-US" b="1" dirty="0">
                <a:solidFill>
                  <a:schemeClr val="tx1"/>
                </a:solidFill>
              </a:rPr>
              <a:t>David Zeff</a:t>
            </a:r>
            <a:endParaRPr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2026-0F03-C259-96F9-1452E3DF6335}"/>
              </a:ext>
            </a:extLst>
          </p:cNvPr>
          <p:cNvSpPr>
            <a:spLocks noGrp="1"/>
          </p:cNvSpPr>
          <p:nvPr>
            <p:ph type="title"/>
          </p:nvPr>
        </p:nvSpPr>
        <p:spPr>
          <a:xfrm>
            <a:off x="457200" y="274638"/>
            <a:ext cx="2706914" cy="1143000"/>
          </a:xfrm>
        </p:spPr>
        <p:txBody>
          <a:bodyPr/>
          <a:lstStyle/>
          <a:p>
            <a:r>
              <a:rPr lang="en-IL" b="1" dirty="0"/>
              <a:t>The Data</a:t>
            </a:r>
          </a:p>
        </p:txBody>
      </p:sp>
      <p:sp>
        <p:nvSpPr>
          <p:cNvPr id="3" name="Content Placeholder 2">
            <a:extLst>
              <a:ext uri="{FF2B5EF4-FFF2-40B4-BE49-F238E27FC236}">
                <a16:creationId xmlns:a16="http://schemas.microsoft.com/office/drawing/2014/main" id="{B3C46BC1-6C16-A520-AE49-5E7E5F18FF7F}"/>
              </a:ext>
            </a:extLst>
          </p:cNvPr>
          <p:cNvSpPr>
            <a:spLocks noGrp="1"/>
          </p:cNvSpPr>
          <p:nvPr>
            <p:ph idx="1"/>
          </p:nvPr>
        </p:nvSpPr>
        <p:spPr>
          <a:xfrm>
            <a:off x="457200" y="1600200"/>
            <a:ext cx="5812973" cy="4525963"/>
          </a:xfrm>
        </p:spPr>
        <p:txBody>
          <a:bodyPr>
            <a:normAutofit fontScale="85000" lnSpcReduction="10000"/>
          </a:bodyPr>
          <a:lstStyle/>
          <a:p>
            <a:r>
              <a:rPr lang="en-IL" dirty="0"/>
              <a:t>1 million rows of user info with a target value of </a:t>
            </a:r>
            <a:r>
              <a:rPr lang="en-IL" dirty="0">
                <a:solidFill>
                  <a:srgbClr val="00B050"/>
                </a:solidFill>
              </a:rPr>
              <a:t>clicked</a:t>
            </a:r>
            <a:r>
              <a:rPr lang="en-IL" dirty="0"/>
              <a:t> or </a:t>
            </a:r>
            <a:r>
              <a:rPr lang="en-IL" dirty="0">
                <a:solidFill>
                  <a:srgbClr val="C00000"/>
                </a:solidFill>
              </a:rPr>
              <a:t>not clicked</a:t>
            </a:r>
          </a:p>
          <a:p>
            <a:r>
              <a:rPr lang="en-US" dirty="0"/>
              <a:t>D</a:t>
            </a:r>
            <a:r>
              <a:rPr lang="en-IL" dirty="0"/>
              <a:t>ata is encrypted to maintain real user privacy</a:t>
            </a:r>
          </a:p>
          <a:p>
            <a:r>
              <a:rPr lang="en-US" dirty="0"/>
              <a:t>For example, the column ‘age’ is transformed to int_col_1, and the column name is changed to cat_col_1</a:t>
            </a:r>
          </a:p>
          <a:p>
            <a:r>
              <a:rPr lang="en-US" dirty="0"/>
              <a:t>This throws away any intuition, and we will have to do lots of experimentation </a:t>
            </a:r>
            <a:endParaRPr lang="en-IL" dirty="0"/>
          </a:p>
        </p:txBody>
      </p:sp>
      <p:pic>
        <p:nvPicPr>
          <p:cNvPr id="6" name="Picture 5">
            <a:extLst>
              <a:ext uri="{FF2B5EF4-FFF2-40B4-BE49-F238E27FC236}">
                <a16:creationId xmlns:a16="http://schemas.microsoft.com/office/drawing/2014/main" id="{EF5775A7-C2C0-0A58-BC39-2459869AAC08}"/>
              </a:ext>
            </a:extLst>
          </p:cNvPr>
          <p:cNvPicPr>
            <a:picLocks noChangeAspect="1"/>
          </p:cNvPicPr>
          <p:nvPr/>
        </p:nvPicPr>
        <p:blipFill>
          <a:blip r:embed="rId2"/>
          <a:stretch>
            <a:fillRect/>
          </a:stretch>
        </p:blipFill>
        <p:spPr>
          <a:xfrm>
            <a:off x="6270173" y="846138"/>
            <a:ext cx="5924550" cy="2387792"/>
          </a:xfrm>
          <a:prstGeom prst="rect">
            <a:avLst/>
          </a:prstGeom>
        </p:spPr>
      </p:pic>
      <p:sp>
        <p:nvSpPr>
          <p:cNvPr id="7" name="Title 1">
            <a:extLst>
              <a:ext uri="{FF2B5EF4-FFF2-40B4-BE49-F238E27FC236}">
                <a16:creationId xmlns:a16="http://schemas.microsoft.com/office/drawing/2014/main" id="{319BBB82-B137-7B25-E698-AC1DAAD82B10}"/>
              </a:ext>
            </a:extLst>
          </p:cNvPr>
          <p:cNvSpPr txBox="1">
            <a:spLocks/>
          </p:cNvSpPr>
          <p:nvPr/>
        </p:nvSpPr>
        <p:spPr>
          <a:xfrm>
            <a:off x="7358743" y="-168047"/>
            <a:ext cx="416560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L" b="1" dirty="0"/>
              <a:t>Original</a:t>
            </a:r>
            <a:r>
              <a:rPr lang="en-IL" dirty="0"/>
              <a:t>(example)</a:t>
            </a:r>
          </a:p>
        </p:txBody>
      </p:sp>
      <p:sp>
        <p:nvSpPr>
          <p:cNvPr id="8" name="Title 1">
            <a:extLst>
              <a:ext uri="{FF2B5EF4-FFF2-40B4-BE49-F238E27FC236}">
                <a16:creationId xmlns:a16="http://schemas.microsoft.com/office/drawing/2014/main" id="{7FB85DC0-F297-8977-1504-FE313152D39A}"/>
              </a:ext>
            </a:extLst>
          </p:cNvPr>
          <p:cNvSpPr txBox="1">
            <a:spLocks/>
          </p:cNvSpPr>
          <p:nvPr/>
        </p:nvSpPr>
        <p:spPr>
          <a:xfrm>
            <a:off x="7442471" y="2943753"/>
            <a:ext cx="3579954"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b="1" dirty="0"/>
              <a:t>A</a:t>
            </a:r>
            <a:r>
              <a:rPr lang="en-IL" b="1" dirty="0"/>
              <a:t>fter encrytion</a:t>
            </a:r>
          </a:p>
        </p:txBody>
      </p:sp>
      <p:pic>
        <p:nvPicPr>
          <p:cNvPr id="10" name="Picture 9">
            <a:extLst>
              <a:ext uri="{FF2B5EF4-FFF2-40B4-BE49-F238E27FC236}">
                <a16:creationId xmlns:a16="http://schemas.microsoft.com/office/drawing/2014/main" id="{4DB3CFE7-206B-B872-94D9-201E93F395AE}"/>
              </a:ext>
            </a:extLst>
          </p:cNvPr>
          <p:cNvPicPr>
            <a:picLocks noChangeAspect="1"/>
          </p:cNvPicPr>
          <p:nvPr/>
        </p:nvPicPr>
        <p:blipFill>
          <a:blip r:embed="rId3"/>
          <a:stretch>
            <a:fillRect/>
          </a:stretch>
        </p:blipFill>
        <p:spPr>
          <a:xfrm>
            <a:off x="6270172" y="3818604"/>
            <a:ext cx="5921827" cy="2768252"/>
          </a:xfrm>
          <a:prstGeom prst="rect">
            <a:avLst/>
          </a:prstGeom>
        </p:spPr>
      </p:pic>
      <p:sp>
        <p:nvSpPr>
          <p:cNvPr id="11" name="Down Arrow 10">
            <a:extLst>
              <a:ext uri="{FF2B5EF4-FFF2-40B4-BE49-F238E27FC236}">
                <a16:creationId xmlns:a16="http://schemas.microsoft.com/office/drawing/2014/main" id="{26F9401F-6F88-334D-8C30-9E1ED7712AE7}"/>
              </a:ext>
            </a:extLst>
          </p:cNvPr>
          <p:cNvSpPr/>
          <p:nvPr/>
        </p:nvSpPr>
        <p:spPr>
          <a:xfrm>
            <a:off x="6745044" y="3037063"/>
            <a:ext cx="484632" cy="978408"/>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L"/>
          </a:p>
        </p:txBody>
      </p:sp>
      <p:sp>
        <p:nvSpPr>
          <p:cNvPr id="12" name="Down Arrow 11">
            <a:extLst>
              <a:ext uri="{FF2B5EF4-FFF2-40B4-BE49-F238E27FC236}">
                <a16:creationId xmlns:a16="http://schemas.microsoft.com/office/drawing/2014/main" id="{34DB9E06-FB07-437E-CD11-FE6C0EB3B83C}"/>
              </a:ext>
            </a:extLst>
          </p:cNvPr>
          <p:cNvSpPr/>
          <p:nvPr/>
        </p:nvSpPr>
        <p:spPr>
          <a:xfrm>
            <a:off x="10880264" y="3037063"/>
            <a:ext cx="484632" cy="978408"/>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73784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a:xfrm>
            <a:off x="457200" y="1600200"/>
            <a:ext cx="6266329" cy="4525963"/>
          </a:xfrm>
        </p:spPr>
        <p:txBody>
          <a:bodyPr/>
          <a:lstStyle/>
          <a:p>
            <a:r>
              <a:rPr lang="en-US" sz="2000" dirty="0"/>
              <a:t>We want to predict if a user clicked on a ad or not</a:t>
            </a:r>
          </a:p>
        </p:txBody>
      </p:sp>
      <p:pic>
        <p:nvPicPr>
          <p:cNvPr id="4" name="Picture 3" descr="AdGuard ad blocker">
            <a:extLst>
              <a:ext uri="{FF2B5EF4-FFF2-40B4-BE49-F238E27FC236}">
                <a16:creationId xmlns:a16="http://schemas.microsoft.com/office/drawing/2014/main" id="{74232C44-D406-5E30-FD2B-CFC87517D02B}"/>
              </a:ext>
            </a:extLst>
          </p:cNvPr>
          <p:cNvPicPr>
            <a:picLocks noChangeAspect="1"/>
          </p:cNvPicPr>
          <p:nvPr/>
        </p:nvPicPr>
        <p:blipFill>
          <a:blip r:embed="rId2"/>
          <a:stretch>
            <a:fillRect/>
          </a:stretch>
        </p:blipFill>
        <p:spPr>
          <a:xfrm>
            <a:off x="1724510" y="2077000"/>
            <a:ext cx="4291405" cy="3572361"/>
          </a:xfrm>
          <a:prstGeom prst="rect">
            <a:avLst/>
          </a:prstGeom>
        </p:spPr>
      </p:pic>
      <p:pic>
        <p:nvPicPr>
          <p:cNvPr id="5" name="Picture 4" descr="Someone thinking Images - Free Download ...">
            <a:extLst>
              <a:ext uri="{FF2B5EF4-FFF2-40B4-BE49-F238E27FC236}">
                <a16:creationId xmlns:a16="http://schemas.microsoft.com/office/drawing/2014/main" id="{5F3DEC59-D013-CF63-4377-7DB8648F8A3E}"/>
              </a:ext>
            </a:extLst>
          </p:cNvPr>
          <p:cNvPicPr>
            <a:picLocks noChangeAspect="1"/>
          </p:cNvPicPr>
          <p:nvPr/>
        </p:nvPicPr>
        <p:blipFill>
          <a:blip r:embed="rId3"/>
          <a:stretch>
            <a:fillRect/>
          </a:stretch>
        </p:blipFill>
        <p:spPr>
          <a:xfrm>
            <a:off x="6096000" y="1600201"/>
            <a:ext cx="4999019" cy="3796542"/>
          </a:xfrm>
          <a:prstGeom prst="rect">
            <a:avLst/>
          </a:prstGeom>
        </p:spPr>
      </p:pic>
      <p:sp>
        <p:nvSpPr>
          <p:cNvPr id="6" name="Oval Callout 5">
            <a:extLst>
              <a:ext uri="{FF2B5EF4-FFF2-40B4-BE49-F238E27FC236}">
                <a16:creationId xmlns:a16="http://schemas.microsoft.com/office/drawing/2014/main" id="{77FC2A8A-1C10-F992-7E0E-8DD4D5A67D19}"/>
              </a:ext>
            </a:extLst>
          </p:cNvPr>
          <p:cNvSpPr/>
          <p:nvPr/>
        </p:nvSpPr>
        <p:spPr>
          <a:xfrm>
            <a:off x="8686799" y="1600200"/>
            <a:ext cx="2060089" cy="1376979"/>
          </a:xfrm>
          <a:prstGeom prst="wedgeEllipseCallou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L" dirty="0"/>
              <a:t>Should </a:t>
            </a:r>
            <a:r>
              <a:rPr lang="en-US" dirty="0"/>
              <a:t>I</a:t>
            </a:r>
            <a:r>
              <a:rPr lang="en-IL" dirty="0"/>
              <a:t> Click or not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Guiding Philosophy</a:t>
            </a:r>
          </a:p>
        </p:txBody>
      </p:sp>
      <p:sp>
        <p:nvSpPr>
          <p:cNvPr id="3" name="Content Placeholder 2"/>
          <p:cNvSpPr>
            <a:spLocks noGrp="1"/>
          </p:cNvSpPr>
          <p:nvPr>
            <p:ph idx="1"/>
          </p:nvPr>
        </p:nvSpPr>
        <p:spPr/>
        <p:txBody>
          <a:bodyPr/>
          <a:lstStyle/>
          <a:p>
            <a:r>
              <a:rPr sz="2000" dirty="0"/>
              <a:t>Columns are hashed — we can't reason about meaning</a:t>
            </a:r>
          </a:p>
          <a:p>
            <a:r>
              <a:rPr sz="2000" dirty="0"/>
              <a:t>So: test multiple alternatives at every decision point</a:t>
            </a:r>
          </a:p>
          <a:p>
            <a:r>
              <a:rPr sz="2000" dirty="0"/>
              <a:t>Let the validation set decide</a:t>
            </a:r>
          </a:p>
          <a:p>
            <a:r>
              <a:rPr sz="2000" dirty="0"/>
              <a:t>Decisions tested: model, imbalance fix, threshold, encoder,</a:t>
            </a:r>
          </a:p>
          <a:p>
            <a:r>
              <a:rPr sz="2000" dirty="0"/>
              <a:t>    scaler, imputer, outlier handling</a:t>
            </a:r>
          </a:p>
        </p:txBody>
      </p:sp>
      <p:pic>
        <p:nvPicPr>
          <p:cNvPr id="5" name="Picture 4" descr="Confused Person Images – Browse 859,510 ...">
            <a:extLst>
              <a:ext uri="{FF2B5EF4-FFF2-40B4-BE49-F238E27FC236}">
                <a16:creationId xmlns:a16="http://schemas.microsoft.com/office/drawing/2014/main" id="{045B01FA-BBA3-C825-36C4-318EB4B175BB}"/>
              </a:ext>
            </a:extLst>
          </p:cNvPr>
          <p:cNvPicPr>
            <a:picLocks noChangeAspect="1"/>
          </p:cNvPicPr>
          <p:nvPr/>
        </p:nvPicPr>
        <p:blipFill>
          <a:blip r:embed="rId2"/>
          <a:stretch>
            <a:fillRect/>
          </a:stretch>
        </p:blipFill>
        <p:spPr>
          <a:xfrm>
            <a:off x="1249307" y="3746406"/>
            <a:ext cx="3457164" cy="2836956"/>
          </a:xfrm>
          <a:prstGeom prst="rect">
            <a:avLst/>
          </a:prstGeom>
        </p:spPr>
      </p:pic>
      <p:pic>
        <p:nvPicPr>
          <p:cNvPr id="6" name="Picture 5" descr="What Does Throwing Spaghetti at a Wall ...">
            <a:extLst>
              <a:ext uri="{FF2B5EF4-FFF2-40B4-BE49-F238E27FC236}">
                <a16:creationId xmlns:a16="http://schemas.microsoft.com/office/drawing/2014/main" id="{FDD147D7-12D1-3E10-93EF-D1196069F081}"/>
              </a:ext>
            </a:extLst>
          </p:cNvPr>
          <p:cNvPicPr>
            <a:picLocks noChangeAspect="1"/>
          </p:cNvPicPr>
          <p:nvPr/>
        </p:nvPicPr>
        <p:blipFill>
          <a:blip r:embed="rId3"/>
          <a:stretch>
            <a:fillRect/>
          </a:stretch>
        </p:blipFill>
        <p:spPr>
          <a:xfrm>
            <a:off x="5681457" y="3746406"/>
            <a:ext cx="3797450" cy="28369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EDA Findings</a:t>
            </a:r>
          </a:p>
        </p:txBody>
      </p:sp>
      <p:sp>
        <p:nvSpPr>
          <p:cNvPr id="3" name="Content Placeholder 2"/>
          <p:cNvSpPr>
            <a:spLocks noGrp="1"/>
          </p:cNvSpPr>
          <p:nvPr>
            <p:ph idx="1"/>
          </p:nvPr>
        </p:nvSpPr>
        <p:spPr/>
        <p:txBody>
          <a:bodyPr>
            <a:normAutofit/>
          </a:bodyPr>
          <a:lstStyle/>
          <a:p>
            <a:r>
              <a:rPr lang="en-US" sz="2400" dirty="0"/>
              <a:t>Target ~25% positive — imbalanced</a:t>
            </a:r>
          </a:p>
          <a:p>
            <a:r>
              <a:rPr lang="en-US" sz="2400" dirty="0"/>
              <a:t>We will have to keep this in mind when we decide on the cutoff thresh hold and resampling </a:t>
            </a:r>
          </a:p>
        </p:txBody>
      </p:sp>
      <p:pic>
        <p:nvPicPr>
          <p:cNvPr id="4" name="Picture 3">
            <a:extLst>
              <a:ext uri="{FF2B5EF4-FFF2-40B4-BE49-F238E27FC236}">
                <a16:creationId xmlns:a16="http://schemas.microsoft.com/office/drawing/2014/main" id="{B69B476F-9F33-1A9E-163F-37A600FFF8BD}"/>
              </a:ext>
            </a:extLst>
          </p:cNvPr>
          <p:cNvPicPr>
            <a:picLocks noChangeAspect="1"/>
          </p:cNvPicPr>
          <p:nvPr/>
        </p:nvPicPr>
        <p:blipFill>
          <a:blip r:embed="rId2"/>
          <a:stretch>
            <a:fillRect/>
          </a:stretch>
        </p:blipFill>
        <p:spPr>
          <a:xfrm>
            <a:off x="631114" y="2840018"/>
            <a:ext cx="9728499" cy="40179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A787D-A2FB-8BD5-5DED-76A538EFB91C}"/>
              </a:ext>
            </a:extLst>
          </p:cNvPr>
          <p:cNvSpPr>
            <a:spLocks noGrp="1"/>
          </p:cNvSpPr>
          <p:nvPr>
            <p:ph type="title"/>
          </p:nvPr>
        </p:nvSpPr>
        <p:spPr/>
        <p:txBody>
          <a:bodyPr/>
          <a:lstStyle/>
          <a:p>
            <a:r>
              <a:rPr lang="en-US" dirty="0"/>
              <a:t>1.2 EDA Findings</a:t>
            </a:r>
            <a:endParaRPr lang="en-IL" dirty="0"/>
          </a:p>
        </p:txBody>
      </p:sp>
      <p:sp>
        <p:nvSpPr>
          <p:cNvPr id="3" name="Content Placeholder 2">
            <a:extLst>
              <a:ext uri="{FF2B5EF4-FFF2-40B4-BE49-F238E27FC236}">
                <a16:creationId xmlns:a16="http://schemas.microsoft.com/office/drawing/2014/main" id="{401074C2-9614-3720-624F-874D1D01D72A}"/>
              </a:ext>
            </a:extLst>
          </p:cNvPr>
          <p:cNvSpPr>
            <a:spLocks noGrp="1"/>
          </p:cNvSpPr>
          <p:nvPr>
            <p:ph idx="1"/>
          </p:nvPr>
        </p:nvSpPr>
        <p:spPr/>
        <p:txBody>
          <a:bodyPr/>
          <a:lstStyle/>
          <a:p>
            <a:r>
              <a:rPr lang="en-US" dirty="0"/>
              <a:t>Heavy missingness in several numeric columns</a:t>
            </a:r>
          </a:p>
          <a:p>
            <a:r>
              <a:rPr lang="en-US" dirty="0"/>
              <a:t>This will affect how we decide to deal with missing data</a:t>
            </a:r>
          </a:p>
          <a:p>
            <a:endParaRPr lang="en-IL" dirty="0"/>
          </a:p>
        </p:txBody>
      </p:sp>
      <p:pic>
        <p:nvPicPr>
          <p:cNvPr id="4" name="Picture 3">
            <a:extLst>
              <a:ext uri="{FF2B5EF4-FFF2-40B4-BE49-F238E27FC236}">
                <a16:creationId xmlns:a16="http://schemas.microsoft.com/office/drawing/2014/main" id="{1C038F83-321F-02A7-982F-2B8C7EBAD65D}"/>
              </a:ext>
            </a:extLst>
          </p:cNvPr>
          <p:cNvPicPr>
            <a:picLocks noChangeAspect="1"/>
          </p:cNvPicPr>
          <p:nvPr/>
        </p:nvPicPr>
        <p:blipFill>
          <a:blip r:embed="rId2"/>
          <a:stretch>
            <a:fillRect/>
          </a:stretch>
        </p:blipFill>
        <p:spPr>
          <a:xfrm>
            <a:off x="301214" y="3302598"/>
            <a:ext cx="11056215" cy="3185374"/>
          </a:xfrm>
          <a:prstGeom prst="rect">
            <a:avLst/>
          </a:prstGeom>
        </p:spPr>
      </p:pic>
    </p:spTree>
    <p:extLst>
      <p:ext uri="{BB962C8B-B14F-4D97-AF65-F5344CB8AC3E}">
        <p14:creationId xmlns:p14="http://schemas.microsoft.com/office/powerpoint/2010/main" val="2394392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8C6C-7330-2783-31A7-C94BC5EB05AE}"/>
              </a:ext>
            </a:extLst>
          </p:cNvPr>
          <p:cNvSpPr>
            <a:spLocks noGrp="1"/>
          </p:cNvSpPr>
          <p:nvPr>
            <p:ph type="title"/>
          </p:nvPr>
        </p:nvSpPr>
        <p:spPr/>
        <p:txBody>
          <a:bodyPr/>
          <a:lstStyle/>
          <a:p>
            <a:r>
              <a:rPr lang="en-US" dirty="0"/>
              <a:t>1.3 EDA Findings</a:t>
            </a:r>
            <a:endParaRPr lang="en-IL" dirty="0"/>
          </a:p>
        </p:txBody>
      </p:sp>
      <p:sp>
        <p:nvSpPr>
          <p:cNvPr id="3" name="Content Placeholder 2">
            <a:extLst>
              <a:ext uri="{FF2B5EF4-FFF2-40B4-BE49-F238E27FC236}">
                <a16:creationId xmlns:a16="http://schemas.microsoft.com/office/drawing/2014/main" id="{2CCB5E63-3016-F1A0-8F26-671C7EA09F6E}"/>
              </a:ext>
            </a:extLst>
          </p:cNvPr>
          <p:cNvSpPr>
            <a:spLocks noGrp="1"/>
          </p:cNvSpPr>
          <p:nvPr>
            <p:ph idx="1"/>
          </p:nvPr>
        </p:nvSpPr>
        <p:spPr>
          <a:xfrm>
            <a:off x="457200" y="1600200"/>
            <a:ext cx="10945906" cy="4525963"/>
          </a:xfrm>
        </p:spPr>
        <p:txBody>
          <a:bodyPr/>
          <a:lstStyle/>
          <a:p>
            <a:r>
              <a:rPr lang="en-US" dirty="0"/>
              <a:t>Some </a:t>
            </a:r>
            <a:r>
              <a:rPr lang="en-US" dirty="0" err="1"/>
              <a:t>numerics</a:t>
            </a:r>
            <a:r>
              <a:rPr lang="en-US" dirty="0"/>
              <a:t> span 0 → millions (heavy skew)</a:t>
            </a:r>
          </a:p>
          <a:p>
            <a:r>
              <a:rPr lang="en-US" dirty="0"/>
              <a:t>We will need to keep this in mind when trying models that assume a certain kind of distribution </a:t>
            </a:r>
          </a:p>
          <a:p>
            <a:endParaRPr lang="en-IL" dirty="0"/>
          </a:p>
        </p:txBody>
      </p:sp>
      <p:pic>
        <p:nvPicPr>
          <p:cNvPr id="4" name="Picture 3">
            <a:extLst>
              <a:ext uri="{FF2B5EF4-FFF2-40B4-BE49-F238E27FC236}">
                <a16:creationId xmlns:a16="http://schemas.microsoft.com/office/drawing/2014/main" id="{CA710517-666E-70D5-4601-9DB46EBF4787}"/>
              </a:ext>
            </a:extLst>
          </p:cNvPr>
          <p:cNvPicPr>
            <a:picLocks noChangeAspect="1"/>
          </p:cNvPicPr>
          <p:nvPr/>
        </p:nvPicPr>
        <p:blipFill>
          <a:blip r:embed="rId2"/>
          <a:stretch>
            <a:fillRect/>
          </a:stretch>
        </p:blipFill>
        <p:spPr>
          <a:xfrm>
            <a:off x="574637" y="3324113"/>
            <a:ext cx="10258314" cy="3259249"/>
          </a:xfrm>
          <a:prstGeom prst="rect">
            <a:avLst/>
          </a:prstGeom>
        </p:spPr>
      </p:pic>
    </p:spTree>
    <p:extLst>
      <p:ext uri="{BB962C8B-B14F-4D97-AF65-F5344CB8AC3E}">
        <p14:creationId xmlns:p14="http://schemas.microsoft.com/office/powerpoint/2010/main" val="3009616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22F66-9983-CFA2-C836-63BBC4649C61}"/>
              </a:ext>
            </a:extLst>
          </p:cNvPr>
          <p:cNvSpPr>
            <a:spLocks noGrp="1"/>
          </p:cNvSpPr>
          <p:nvPr>
            <p:ph type="title"/>
          </p:nvPr>
        </p:nvSpPr>
        <p:spPr/>
        <p:txBody>
          <a:bodyPr/>
          <a:lstStyle/>
          <a:p>
            <a:r>
              <a:rPr lang="en-US" dirty="0"/>
              <a:t>1.4 EDA Findings</a:t>
            </a:r>
            <a:endParaRPr lang="en-IL" dirty="0"/>
          </a:p>
        </p:txBody>
      </p:sp>
      <p:sp>
        <p:nvSpPr>
          <p:cNvPr id="3" name="Content Placeholder 2">
            <a:extLst>
              <a:ext uri="{FF2B5EF4-FFF2-40B4-BE49-F238E27FC236}">
                <a16:creationId xmlns:a16="http://schemas.microsoft.com/office/drawing/2014/main" id="{4D01A420-8636-966C-E823-2DBD77311330}"/>
              </a:ext>
            </a:extLst>
          </p:cNvPr>
          <p:cNvSpPr>
            <a:spLocks noGrp="1"/>
          </p:cNvSpPr>
          <p:nvPr>
            <p:ph idx="1"/>
          </p:nvPr>
        </p:nvSpPr>
        <p:spPr>
          <a:xfrm>
            <a:off x="457199" y="1600200"/>
            <a:ext cx="11655911" cy="4525963"/>
          </a:xfrm>
        </p:spPr>
        <p:txBody>
          <a:bodyPr/>
          <a:lstStyle/>
          <a:p>
            <a:r>
              <a:rPr lang="en-US" dirty="0"/>
              <a:t>Categorical cardinality ranges from ~10 to &gt;100,000</a:t>
            </a:r>
          </a:p>
          <a:p>
            <a:r>
              <a:rPr lang="en-US" dirty="0"/>
              <a:t>Amount of unique values will help us decide how to encode our categorical data (for low cardinality we can use one hot while high cardinality we can use either ordinal/target encoding)</a:t>
            </a:r>
          </a:p>
          <a:p>
            <a:endParaRPr lang="en-US" dirty="0"/>
          </a:p>
          <a:p>
            <a:endParaRPr lang="en-IL" dirty="0"/>
          </a:p>
        </p:txBody>
      </p:sp>
      <p:pic>
        <p:nvPicPr>
          <p:cNvPr id="4" name="Picture 3">
            <a:extLst>
              <a:ext uri="{FF2B5EF4-FFF2-40B4-BE49-F238E27FC236}">
                <a16:creationId xmlns:a16="http://schemas.microsoft.com/office/drawing/2014/main" id="{ABEB7490-86F6-CA92-C731-952A9EB9CB74}"/>
              </a:ext>
            </a:extLst>
          </p:cNvPr>
          <p:cNvPicPr>
            <a:picLocks noChangeAspect="1"/>
          </p:cNvPicPr>
          <p:nvPr/>
        </p:nvPicPr>
        <p:blipFill>
          <a:blip r:embed="rId2"/>
          <a:stretch>
            <a:fillRect/>
          </a:stretch>
        </p:blipFill>
        <p:spPr>
          <a:xfrm>
            <a:off x="161365" y="3732904"/>
            <a:ext cx="10714616" cy="3125096"/>
          </a:xfrm>
          <a:prstGeom prst="rect">
            <a:avLst/>
          </a:prstGeom>
        </p:spPr>
      </p:pic>
    </p:spTree>
    <p:extLst>
      <p:ext uri="{BB962C8B-B14F-4D97-AF65-F5344CB8AC3E}">
        <p14:creationId xmlns:p14="http://schemas.microsoft.com/office/powerpoint/2010/main" val="863481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FF543-54F2-A990-DD24-C82C54714EF2}"/>
              </a:ext>
            </a:extLst>
          </p:cNvPr>
          <p:cNvSpPr>
            <a:spLocks noGrp="1"/>
          </p:cNvSpPr>
          <p:nvPr>
            <p:ph type="title"/>
          </p:nvPr>
        </p:nvSpPr>
        <p:spPr/>
        <p:txBody>
          <a:bodyPr/>
          <a:lstStyle/>
          <a:p>
            <a:r>
              <a:rPr lang="en-US" dirty="0"/>
              <a:t>1.5 EDA Findings</a:t>
            </a:r>
            <a:endParaRPr lang="en-IL" dirty="0"/>
          </a:p>
        </p:txBody>
      </p:sp>
      <p:sp>
        <p:nvSpPr>
          <p:cNvPr id="3" name="Content Placeholder 2">
            <a:extLst>
              <a:ext uri="{FF2B5EF4-FFF2-40B4-BE49-F238E27FC236}">
                <a16:creationId xmlns:a16="http://schemas.microsoft.com/office/drawing/2014/main" id="{073C5C9E-338C-ECB7-27B7-4981EA7E737F}"/>
              </a:ext>
            </a:extLst>
          </p:cNvPr>
          <p:cNvSpPr>
            <a:spLocks noGrp="1"/>
          </p:cNvSpPr>
          <p:nvPr>
            <p:ph idx="1"/>
          </p:nvPr>
        </p:nvSpPr>
        <p:spPr>
          <a:xfrm>
            <a:off x="457199" y="1600200"/>
            <a:ext cx="11204090" cy="4525963"/>
          </a:xfrm>
        </p:spPr>
        <p:txBody>
          <a:bodyPr/>
          <a:lstStyle/>
          <a:p>
            <a:r>
              <a:rPr lang="en-US" dirty="0"/>
              <a:t>N</a:t>
            </a:r>
            <a:r>
              <a:rPr lang="en-IL" dirty="0"/>
              <a:t>o feature that ”gives away” the target(100% correlation)</a:t>
            </a:r>
          </a:p>
          <a:p>
            <a:r>
              <a:rPr lang="en-US" dirty="0"/>
              <a:t>N</a:t>
            </a:r>
            <a:r>
              <a:rPr lang="en-IL" dirty="0"/>
              <a:t>o feature that has high correlation with target</a:t>
            </a:r>
          </a:p>
        </p:txBody>
      </p:sp>
      <p:pic>
        <p:nvPicPr>
          <p:cNvPr id="4" name="Picture 3">
            <a:extLst>
              <a:ext uri="{FF2B5EF4-FFF2-40B4-BE49-F238E27FC236}">
                <a16:creationId xmlns:a16="http://schemas.microsoft.com/office/drawing/2014/main" id="{CD46C2EA-BF44-BFF7-0B1B-A181BD16E4AE}"/>
              </a:ext>
            </a:extLst>
          </p:cNvPr>
          <p:cNvPicPr>
            <a:picLocks noChangeAspect="1"/>
          </p:cNvPicPr>
          <p:nvPr/>
        </p:nvPicPr>
        <p:blipFill>
          <a:blip r:embed="rId2"/>
          <a:stretch>
            <a:fillRect/>
          </a:stretch>
        </p:blipFill>
        <p:spPr>
          <a:xfrm>
            <a:off x="623943" y="3006444"/>
            <a:ext cx="9036424" cy="3576918"/>
          </a:xfrm>
          <a:prstGeom prst="rect">
            <a:avLst/>
          </a:prstGeom>
        </p:spPr>
      </p:pic>
    </p:spTree>
    <p:extLst>
      <p:ext uri="{BB962C8B-B14F-4D97-AF65-F5344CB8AC3E}">
        <p14:creationId xmlns:p14="http://schemas.microsoft.com/office/powerpoint/2010/main" val="4200976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B2482-3ADB-1949-E0F8-4B87EA49AEF9}"/>
              </a:ext>
            </a:extLst>
          </p:cNvPr>
          <p:cNvSpPr>
            <a:spLocks noGrp="1"/>
          </p:cNvSpPr>
          <p:nvPr>
            <p:ph type="title"/>
          </p:nvPr>
        </p:nvSpPr>
        <p:spPr/>
        <p:txBody>
          <a:bodyPr/>
          <a:lstStyle/>
          <a:p>
            <a:r>
              <a:rPr lang="en-US" dirty="0"/>
              <a:t>2.0 Preprocessing Pipeline</a:t>
            </a:r>
            <a:endParaRPr lang="en-IL" dirty="0"/>
          </a:p>
        </p:txBody>
      </p:sp>
      <p:sp>
        <p:nvSpPr>
          <p:cNvPr id="3" name="Content Placeholder 2">
            <a:extLst>
              <a:ext uri="{FF2B5EF4-FFF2-40B4-BE49-F238E27FC236}">
                <a16:creationId xmlns:a16="http://schemas.microsoft.com/office/drawing/2014/main" id="{6E82BFAD-0A2F-EF28-6001-806F16D96A7F}"/>
              </a:ext>
            </a:extLst>
          </p:cNvPr>
          <p:cNvSpPr>
            <a:spLocks noGrp="1"/>
          </p:cNvSpPr>
          <p:nvPr>
            <p:ph idx="1"/>
          </p:nvPr>
        </p:nvSpPr>
        <p:spPr/>
        <p:txBody>
          <a:bodyPr/>
          <a:lstStyle/>
          <a:p>
            <a:r>
              <a:rPr lang="en-IL" b="1" dirty="0">
                <a:solidFill>
                  <a:srgbClr val="C00000"/>
                </a:solidFill>
              </a:rPr>
              <a:t>Note: </a:t>
            </a:r>
            <a:r>
              <a:rPr lang="en-IL" dirty="0"/>
              <a:t>in our eda we learned information that can help us make better pre processing decisions</a:t>
            </a:r>
          </a:p>
          <a:p>
            <a:r>
              <a:rPr lang="en-US" b="1" dirty="0">
                <a:solidFill>
                  <a:srgbClr val="C00000"/>
                </a:solidFill>
              </a:rPr>
              <a:t>W</a:t>
            </a:r>
            <a:r>
              <a:rPr lang="en-IL" b="1" dirty="0">
                <a:solidFill>
                  <a:srgbClr val="C00000"/>
                </a:solidFill>
              </a:rPr>
              <a:t>e don’t neccessarirly put this eda info into practice in our preprocessing for now, because we want to keep it simple for a baseline and later on we will be more precise and surgical</a:t>
            </a:r>
          </a:p>
        </p:txBody>
      </p:sp>
      <p:pic>
        <p:nvPicPr>
          <p:cNvPr id="4" name="Picture 3" descr="Warning Vector Art, Icons, and Graphics ...">
            <a:extLst>
              <a:ext uri="{FF2B5EF4-FFF2-40B4-BE49-F238E27FC236}">
                <a16:creationId xmlns:a16="http://schemas.microsoft.com/office/drawing/2014/main" id="{AF3AF45D-BD87-20D5-5FAB-6A572C3131B1}"/>
              </a:ext>
            </a:extLst>
          </p:cNvPr>
          <p:cNvPicPr>
            <a:picLocks noChangeAspect="1"/>
          </p:cNvPicPr>
          <p:nvPr/>
        </p:nvPicPr>
        <p:blipFill>
          <a:blip r:embed="rId2"/>
          <a:stretch>
            <a:fillRect/>
          </a:stretch>
        </p:blipFill>
        <p:spPr>
          <a:xfrm>
            <a:off x="8961120" y="1504874"/>
            <a:ext cx="2938033" cy="3174702"/>
          </a:xfrm>
          <a:prstGeom prst="rect">
            <a:avLst/>
          </a:prstGeom>
        </p:spPr>
      </p:pic>
    </p:spTree>
    <p:extLst>
      <p:ext uri="{BB962C8B-B14F-4D97-AF65-F5344CB8AC3E}">
        <p14:creationId xmlns:p14="http://schemas.microsoft.com/office/powerpoint/2010/main" val="2483666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a:t>
            </a:r>
            <a:r>
              <a:rPr lang="en-US" dirty="0"/>
              <a:t>1</a:t>
            </a:r>
            <a:r>
              <a:rPr dirty="0"/>
              <a:t> Preprocessing Pipeline</a:t>
            </a:r>
          </a:p>
        </p:txBody>
      </p:sp>
      <p:sp>
        <p:nvSpPr>
          <p:cNvPr id="3" name="Content Placeholder 2"/>
          <p:cNvSpPr>
            <a:spLocks noGrp="1"/>
          </p:cNvSpPr>
          <p:nvPr>
            <p:ph idx="1"/>
          </p:nvPr>
        </p:nvSpPr>
        <p:spPr/>
        <p:txBody>
          <a:bodyPr/>
          <a:lstStyle/>
          <a:p>
            <a:r>
              <a:rPr sz="2000" dirty="0"/>
              <a:t>Outlier cap: clip </a:t>
            </a:r>
            <a:r>
              <a:rPr sz="2000" dirty="0" err="1"/>
              <a:t>numerics</a:t>
            </a:r>
            <a:r>
              <a:rPr sz="2000" dirty="0"/>
              <a:t> at 1st / 99th percentile</a:t>
            </a:r>
            <a:endParaRPr lang="en-US" sz="2000" dirty="0"/>
          </a:p>
          <a:p>
            <a:r>
              <a:rPr lang="en-US" sz="2000" dirty="0"/>
              <a:t>A</a:t>
            </a:r>
            <a:r>
              <a:rPr lang="en-IL" sz="2000" dirty="0"/>
              <a:t>ll outliers beneath the 1st and above the 99th percentile get rid of just to make the initial models more normalized </a:t>
            </a: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B840E-9180-ABA9-CA51-B98095171545}"/>
              </a:ext>
            </a:extLst>
          </p:cNvPr>
          <p:cNvSpPr>
            <a:spLocks noGrp="1"/>
          </p:cNvSpPr>
          <p:nvPr>
            <p:ph type="title"/>
          </p:nvPr>
        </p:nvSpPr>
        <p:spPr/>
        <p:txBody>
          <a:bodyPr/>
          <a:lstStyle/>
          <a:p>
            <a:r>
              <a:rPr lang="en-US" dirty="0"/>
              <a:t>2.2 Preprocessing Pipeline</a:t>
            </a:r>
            <a:endParaRPr lang="en-IL" dirty="0"/>
          </a:p>
        </p:txBody>
      </p:sp>
      <p:sp>
        <p:nvSpPr>
          <p:cNvPr id="3" name="Content Placeholder 2">
            <a:extLst>
              <a:ext uri="{FF2B5EF4-FFF2-40B4-BE49-F238E27FC236}">
                <a16:creationId xmlns:a16="http://schemas.microsoft.com/office/drawing/2014/main" id="{1C936742-CAF0-3EA8-4CFC-1D80CA983D2F}"/>
              </a:ext>
            </a:extLst>
          </p:cNvPr>
          <p:cNvSpPr>
            <a:spLocks noGrp="1"/>
          </p:cNvSpPr>
          <p:nvPr>
            <p:ph idx="1"/>
          </p:nvPr>
        </p:nvSpPr>
        <p:spPr/>
        <p:txBody>
          <a:bodyPr/>
          <a:lstStyle/>
          <a:p>
            <a:r>
              <a:rPr lang="en-US" dirty="0"/>
              <a:t>Numeric impute: median</a:t>
            </a:r>
          </a:p>
          <a:p>
            <a:r>
              <a:rPr lang="en-US" dirty="0"/>
              <a:t>Replace nulls in numeric cols with the median</a:t>
            </a:r>
          </a:p>
          <a:p>
            <a:r>
              <a:rPr lang="en-US" dirty="0"/>
              <a:t>Just as a baseline</a:t>
            </a:r>
          </a:p>
          <a:p>
            <a:r>
              <a:rPr lang="en-US" dirty="0"/>
              <a:t>We will use different methods later on see which ones have better results</a:t>
            </a:r>
          </a:p>
          <a:p>
            <a:endParaRPr lang="en-US" dirty="0"/>
          </a:p>
          <a:p>
            <a:endParaRPr lang="en-IL" dirty="0"/>
          </a:p>
        </p:txBody>
      </p:sp>
    </p:spTree>
    <p:extLst>
      <p:ext uri="{BB962C8B-B14F-4D97-AF65-F5344CB8AC3E}">
        <p14:creationId xmlns:p14="http://schemas.microsoft.com/office/powerpoint/2010/main" val="2123474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C96F-9B15-1306-1607-917867215A02}"/>
              </a:ext>
            </a:extLst>
          </p:cNvPr>
          <p:cNvSpPr>
            <a:spLocks noGrp="1"/>
          </p:cNvSpPr>
          <p:nvPr>
            <p:ph type="title"/>
          </p:nvPr>
        </p:nvSpPr>
        <p:spPr/>
        <p:txBody>
          <a:bodyPr/>
          <a:lstStyle/>
          <a:p>
            <a:r>
              <a:rPr lang="en-US" dirty="0"/>
              <a:t>2.3 Preprocessing Pipeline</a:t>
            </a:r>
            <a:endParaRPr lang="en-IL" dirty="0"/>
          </a:p>
        </p:txBody>
      </p:sp>
      <p:sp>
        <p:nvSpPr>
          <p:cNvPr id="3" name="Content Placeholder 2">
            <a:extLst>
              <a:ext uri="{FF2B5EF4-FFF2-40B4-BE49-F238E27FC236}">
                <a16:creationId xmlns:a16="http://schemas.microsoft.com/office/drawing/2014/main" id="{302C3209-310C-FE95-9D0C-8725230698C7}"/>
              </a:ext>
            </a:extLst>
          </p:cNvPr>
          <p:cNvSpPr>
            <a:spLocks noGrp="1"/>
          </p:cNvSpPr>
          <p:nvPr>
            <p:ph idx="1"/>
          </p:nvPr>
        </p:nvSpPr>
        <p:spPr/>
        <p:txBody>
          <a:bodyPr/>
          <a:lstStyle/>
          <a:p>
            <a:r>
              <a:rPr lang="en-US" dirty="0"/>
              <a:t>Categorical impute: constant 'missing’</a:t>
            </a:r>
          </a:p>
          <a:p>
            <a:r>
              <a:rPr lang="en-US" dirty="0"/>
              <a:t>All nulls in categorical columns will be replaced with the text ‘missing’</a:t>
            </a:r>
          </a:p>
          <a:p>
            <a:r>
              <a:rPr lang="en-US" dirty="0"/>
              <a:t>Again, just a baseline</a:t>
            </a:r>
          </a:p>
          <a:p>
            <a:endParaRPr lang="en-IL" dirty="0"/>
          </a:p>
        </p:txBody>
      </p:sp>
    </p:spTree>
    <p:extLst>
      <p:ext uri="{BB962C8B-B14F-4D97-AF65-F5344CB8AC3E}">
        <p14:creationId xmlns:p14="http://schemas.microsoft.com/office/powerpoint/2010/main" val="3057355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F255B-520C-1202-0153-23090F7BA3B3}"/>
              </a:ext>
            </a:extLst>
          </p:cNvPr>
          <p:cNvSpPr>
            <a:spLocks noGrp="1"/>
          </p:cNvSpPr>
          <p:nvPr>
            <p:ph type="title"/>
          </p:nvPr>
        </p:nvSpPr>
        <p:spPr/>
        <p:txBody>
          <a:bodyPr/>
          <a:lstStyle/>
          <a:p>
            <a:r>
              <a:rPr lang="en-US" dirty="0"/>
              <a:t>2.3 Preprocessing Pipeline</a:t>
            </a:r>
            <a:endParaRPr lang="en-IL" dirty="0"/>
          </a:p>
        </p:txBody>
      </p:sp>
      <p:sp>
        <p:nvSpPr>
          <p:cNvPr id="3" name="Content Placeholder 2">
            <a:extLst>
              <a:ext uri="{FF2B5EF4-FFF2-40B4-BE49-F238E27FC236}">
                <a16:creationId xmlns:a16="http://schemas.microsoft.com/office/drawing/2014/main" id="{2031D099-9FDA-DC8D-8E1D-134AB7897232}"/>
              </a:ext>
            </a:extLst>
          </p:cNvPr>
          <p:cNvSpPr>
            <a:spLocks noGrp="1"/>
          </p:cNvSpPr>
          <p:nvPr>
            <p:ph idx="1"/>
          </p:nvPr>
        </p:nvSpPr>
        <p:spPr>
          <a:xfrm>
            <a:off x="457199" y="1600200"/>
            <a:ext cx="9332259" cy="4525963"/>
          </a:xfrm>
        </p:spPr>
        <p:txBody>
          <a:bodyPr/>
          <a:lstStyle/>
          <a:p>
            <a:r>
              <a:rPr lang="en-US" dirty="0"/>
              <a:t>Categorical encode: </a:t>
            </a:r>
            <a:r>
              <a:rPr lang="en-US" dirty="0" err="1"/>
              <a:t>OrdinalEncoder</a:t>
            </a:r>
            <a:r>
              <a:rPr lang="en-US" dirty="0"/>
              <a:t> (high cardinality)</a:t>
            </a:r>
          </a:p>
          <a:p>
            <a:r>
              <a:rPr lang="en-US" dirty="0"/>
              <a:t>We saw many cat columns had many different values this is why we will prefer not to use one hot since it will be too costly, alter on we can experiment with target encoding </a:t>
            </a:r>
          </a:p>
          <a:p>
            <a:endParaRPr lang="en-US" dirty="0"/>
          </a:p>
          <a:p>
            <a:endParaRPr lang="en-IL" dirty="0"/>
          </a:p>
        </p:txBody>
      </p:sp>
    </p:spTree>
    <p:extLst>
      <p:ext uri="{BB962C8B-B14F-4D97-AF65-F5344CB8AC3E}">
        <p14:creationId xmlns:p14="http://schemas.microsoft.com/office/powerpoint/2010/main" val="4136586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342B-D093-8048-F6A8-2794B45C69C9}"/>
              </a:ext>
            </a:extLst>
          </p:cNvPr>
          <p:cNvSpPr>
            <a:spLocks noGrp="1"/>
          </p:cNvSpPr>
          <p:nvPr>
            <p:ph type="title"/>
          </p:nvPr>
        </p:nvSpPr>
        <p:spPr/>
        <p:txBody>
          <a:bodyPr/>
          <a:lstStyle/>
          <a:p>
            <a:r>
              <a:rPr lang="en-US" dirty="0"/>
              <a:t>2.4 Preprocessing Pipeline</a:t>
            </a:r>
            <a:endParaRPr lang="en-IL" dirty="0"/>
          </a:p>
        </p:txBody>
      </p:sp>
      <p:sp>
        <p:nvSpPr>
          <p:cNvPr id="3" name="Content Placeholder 2">
            <a:extLst>
              <a:ext uri="{FF2B5EF4-FFF2-40B4-BE49-F238E27FC236}">
                <a16:creationId xmlns:a16="http://schemas.microsoft.com/office/drawing/2014/main" id="{2246CB7A-649F-8516-D3C5-A60626DEBE37}"/>
              </a:ext>
            </a:extLst>
          </p:cNvPr>
          <p:cNvSpPr>
            <a:spLocks noGrp="1"/>
          </p:cNvSpPr>
          <p:nvPr>
            <p:ph idx="1"/>
          </p:nvPr>
        </p:nvSpPr>
        <p:spPr>
          <a:xfrm>
            <a:off x="457199" y="1600200"/>
            <a:ext cx="9031045" cy="4525963"/>
          </a:xfrm>
        </p:spPr>
        <p:txBody>
          <a:bodyPr/>
          <a:lstStyle/>
          <a:p>
            <a:r>
              <a:rPr lang="en-US" dirty="0"/>
              <a:t>Numeric scale: </a:t>
            </a:r>
            <a:r>
              <a:rPr lang="en-US" dirty="0" err="1"/>
              <a:t>StandardScaler</a:t>
            </a:r>
            <a:r>
              <a:rPr lang="en-US" dirty="0"/>
              <a:t> (needed for  KNN)</a:t>
            </a:r>
          </a:p>
          <a:p>
            <a:r>
              <a:rPr lang="en-US" dirty="0"/>
              <a:t>Some distance-based models require scaling in order to work properly </a:t>
            </a:r>
          </a:p>
          <a:p>
            <a:endParaRPr lang="en-IL" dirty="0"/>
          </a:p>
        </p:txBody>
      </p:sp>
    </p:spTree>
    <p:extLst>
      <p:ext uri="{BB962C8B-B14F-4D97-AF65-F5344CB8AC3E}">
        <p14:creationId xmlns:p14="http://schemas.microsoft.com/office/powerpoint/2010/main" val="3946811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72712-8D9B-3969-10ED-FC892BE61517}"/>
              </a:ext>
            </a:extLst>
          </p:cNvPr>
          <p:cNvSpPr>
            <a:spLocks noGrp="1"/>
          </p:cNvSpPr>
          <p:nvPr>
            <p:ph type="title"/>
          </p:nvPr>
        </p:nvSpPr>
        <p:spPr/>
        <p:txBody>
          <a:bodyPr/>
          <a:lstStyle/>
          <a:p>
            <a:r>
              <a:rPr lang="en-US" dirty="0"/>
              <a:t>2.5 Preprocessing Pipeline</a:t>
            </a:r>
            <a:endParaRPr lang="en-IL" dirty="0"/>
          </a:p>
        </p:txBody>
      </p:sp>
      <p:sp>
        <p:nvSpPr>
          <p:cNvPr id="3" name="Content Placeholder 2">
            <a:extLst>
              <a:ext uri="{FF2B5EF4-FFF2-40B4-BE49-F238E27FC236}">
                <a16:creationId xmlns:a16="http://schemas.microsoft.com/office/drawing/2014/main" id="{58726B19-BF21-AEDA-529C-72A0C7DEA9D2}"/>
              </a:ext>
            </a:extLst>
          </p:cNvPr>
          <p:cNvSpPr>
            <a:spLocks noGrp="1"/>
          </p:cNvSpPr>
          <p:nvPr>
            <p:ph idx="1"/>
          </p:nvPr>
        </p:nvSpPr>
        <p:spPr>
          <a:xfrm>
            <a:off x="457199" y="1600200"/>
            <a:ext cx="10139083" cy="4525963"/>
          </a:xfrm>
        </p:spPr>
        <p:txBody>
          <a:bodyPr/>
          <a:lstStyle/>
          <a:p>
            <a:r>
              <a:rPr lang="en-US" dirty="0"/>
              <a:t>All wrapped in one </a:t>
            </a:r>
            <a:r>
              <a:rPr lang="en-US" dirty="0" err="1"/>
              <a:t>ColumnTransformer</a:t>
            </a:r>
            <a:r>
              <a:rPr lang="en-US" dirty="0"/>
              <a:t> → no leakage and proper sequence of events minimize issues</a:t>
            </a:r>
          </a:p>
          <a:p>
            <a:endParaRPr lang="en-IL" dirty="0"/>
          </a:p>
        </p:txBody>
      </p:sp>
    </p:spTree>
    <p:extLst>
      <p:ext uri="{BB962C8B-B14F-4D97-AF65-F5344CB8AC3E}">
        <p14:creationId xmlns:p14="http://schemas.microsoft.com/office/powerpoint/2010/main" val="3403539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3" y="350196"/>
            <a:ext cx="4646904" cy="1624520"/>
          </a:xfrm>
        </p:spPr>
        <p:txBody>
          <a:bodyPr anchor="ctr">
            <a:normAutofit/>
          </a:bodyPr>
          <a:lstStyle/>
          <a:p>
            <a:r>
              <a:rPr lang="en-US" sz="4000"/>
              <a:t>3. Feature Importance</a:t>
            </a:r>
          </a:p>
        </p:txBody>
      </p:sp>
      <p:sp>
        <p:nvSpPr>
          <p:cNvPr id="3" name="Content Placeholder 2"/>
          <p:cNvSpPr>
            <a:spLocks noGrp="1"/>
          </p:cNvSpPr>
          <p:nvPr>
            <p:ph idx="1"/>
          </p:nvPr>
        </p:nvSpPr>
        <p:spPr>
          <a:xfrm>
            <a:off x="761802" y="2743200"/>
            <a:ext cx="4646905" cy="3613149"/>
          </a:xfrm>
        </p:spPr>
        <p:txBody>
          <a:bodyPr anchor="ctr">
            <a:normAutofit/>
          </a:bodyPr>
          <a:lstStyle/>
          <a:p>
            <a:r>
              <a:rPr sz="2000" dirty="0"/>
              <a:t>Quick Random Forest on 100k sample</a:t>
            </a:r>
            <a:endParaRPr lang="en-US" sz="2000" dirty="0"/>
          </a:p>
          <a:p>
            <a:r>
              <a:rPr sz="2000" dirty="0"/>
              <a:t>Confirms model isn't relying on one weird column</a:t>
            </a:r>
          </a:p>
        </p:txBody>
      </p:sp>
      <p:pic>
        <p:nvPicPr>
          <p:cNvPr id="4" name="Picture 3">
            <a:extLst>
              <a:ext uri="{FF2B5EF4-FFF2-40B4-BE49-F238E27FC236}">
                <a16:creationId xmlns:a16="http://schemas.microsoft.com/office/drawing/2014/main" id="{39598EE0-EBD4-F813-DE54-F51CCF40D960}"/>
              </a:ext>
            </a:extLst>
          </p:cNvPr>
          <p:cNvPicPr>
            <a:picLocks noChangeAspect="1"/>
          </p:cNvPicPr>
          <p:nvPr/>
        </p:nvPicPr>
        <p:blipFill>
          <a:blip r:embed="rId2"/>
          <a:srcRect r="1" b="3359"/>
          <a:stretch>
            <a:fillRect/>
          </a:stretch>
        </p:blipFill>
        <p:spPr>
          <a:xfrm>
            <a:off x="6096000" y="1"/>
            <a:ext cx="610282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Train / Val / Test Split</a:t>
            </a:r>
          </a:p>
        </p:txBody>
      </p:sp>
      <p:sp>
        <p:nvSpPr>
          <p:cNvPr id="3" name="Content Placeholder 2"/>
          <p:cNvSpPr>
            <a:spLocks noGrp="1"/>
          </p:cNvSpPr>
          <p:nvPr>
            <p:ph idx="1"/>
          </p:nvPr>
        </p:nvSpPr>
        <p:spPr/>
        <p:txBody>
          <a:bodyPr/>
          <a:lstStyle/>
          <a:p>
            <a:r>
              <a:rPr sz="2000"/>
              <a:t>Stratified split: 60% / 20% / 20%</a:t>
            </a:r>
          </a:p>
          <a:p>
            <a:r>
              <a:rPr sz="2000"/>
              <a:t>Train (600k): fit models</a:t>
            </a:r>
          </a:p>
          <a:p>
            <a:r>
              <a:rPr sz="2000"/>
              <a:t>Val (200k): compare models, tune choices</a:t>
            </a:r>
          </a:p>
          <a:p>
            <a:r>
              <a:rPr sz="2000"/>
              <a:t>Test (200k): touched exactly once at the end</a:t>
            </a:r>
          </a:p>
          <a:p>
            <a:r>
              <a:rPr sz="2000"/>
              <a:t>Stratify preserves ~25% positive rate everywhere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Model Comparison on Val</a:t>
            </a:r>
          </a:p>
        </p:txBody>
      </p:sp>
      <p:sp>
        <p:nvSpPr>
          <p:cNvPr id="3" name="Content Placeholder 2"/>
          <p:cNvSpPr>
            <a:spLocks noGrp="1"/>
          </p:cNvSpPr>
          <p:nvPr>
            <p:ph idx="1"/>
          </p:nvPr>
        </p:nvSpPr>
        <p:spPr/>
        <p:txBody>
          <a:bodyPr/>
          <a:lstStyle/>
          <a:p>
            <a:r>
              <a:rPr sz="2000" dirty="0"/>
              <a:t>NB</a:t>
            </a:r>
            <a:r>
              <a:rPr lang="en-US" sz="2000" dirty="0"/>
              <a:t>(Naïve Bayes)</a:t>
            </a:r>
            <a:r>
              <a:rPr sz="2000" dirty="0"/>
              <a:t>  — fast probabilistic baseline</a:t>
            </a:r>
          </a:p>
          <a:p>
            <a:r>
              <a:rPr sz="2000" dirty="0"/>
              <a:t>KNN</a:t>
            </a:r>
            <a:r>
              <a:rPr lang="en-US" sz="2000" dirty="0"/>
              <a:t>(K nearest Neighbors)</a:t>
            </a:r>
            <a:r>
              <a:rPr sz="2000" dirty="0"/>
              <a:t> — distance-based (fit on 50k sample)</a:t>
            </a:r>
          </a:p>
          <a:p>
            <a:r>
              <a:rPr sz="2000" dirty="0"/>
              <a:t>GBM — </a:t>
            </a:r>
            <a:r>
              <a:rPr sz="2000" dirty="0" err="1"/>
              <a:t>HistGradientBoosting</a:t>
            </a:r>
            <a:endParaRPr lang="en-US" sz="2000" dirty="0"/>
          </a:p>
          <a:p>
            <a:r>
              <a:rPr sz="2000" dirty="0"/>
              <a:t>Metrics: accuracy, precision, recall, F1, ROC-AUC, confusion matrix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1660-2399-9104-E8DE-26FC68935303}"/>
              </a:ext>
            </a:extLst>
          </p:cNvPr>
          <p:cNvSpPr>
            <a:spLocks noGrp="1"/>
          </p:cNvSpPr>
          <p:nvPr>
            <p:ph type="title"/>
          </p:nvPr>
        </p:nvSpPr>
        <p:spPr>
          <a:xfrm>
            <a:off x="1748972" y="666524"/>
            <a:ext cx="8229600" cy="1143000"/>
          </a:xfrm>
        </p:spPr>
        <p:txBody>
          <a:bodyPr/>
          <a:lstStyle/>
          <a:p>
            <a:r>
              <a:rPr lang="en-IL" dirty="0"/>
              <a:t>Results</a:t>
            </a:r>
          </a:p>
        </p:txBody>
      </p:sp>
      <p:pic>
        <p:nvPicPr>
          <p:cNvPr id="5" name="Content Placeholder 4">
            <a:extLst>
              <a:ext uri="{FF2B5EF4-FFF2-40B4-BE49-F238E27FC236}">
                <a16:creationId xmlns:a16="http://schemas.microsoft.com/office/drawing/2014/main" id="{B952F275-1133-6A04-27F6-13C3A62AD7A0}"/>
              </a:ext>
            </a:extLst>
          </p:cNvPr>
          <p:cNvPicPr>
            <a:picLocks noGrp="1" noChangeAspect="1"/>
          </p:cNvPicPr>
          <p:nvPr>
            <p:ph idx="1"/>
          </p:nvPr>
        </p:nvPicPr>
        <p:blipFill>
          <a:blip r:embed="rId2"/>
          <a:stretch>
            <a:fillRect/>
          </a:stretch>
        </p:blipFill>
        <p:spPr>
          <a:xfrm>
            <a:off x="297543" y="2206171"/>
            <a:ext cx="11596914" cy="4536848"/>
          </a:xfrm>
          <a:prstGeom prst="rect">
            <a:avLst/>
          </a:prstGeom>
        </p:spPr>
      </p:pic>
    </p:spTree>
    <p:extLst>
      <p:ext uri="{BB962C8B-B14F-4D97-AF65-F5344CB8AC3E}">
        <p14:creationId xmlns:p14="http://schemas.microsoft.com/office/powerpoint/2010/main" val="2835975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45F51-C6DD-85E0-EF69-931DF0379C00}"/>
              </a:ext>
            </a:extLst>
          </p:cNvPr>
          <p:cNvSpPr>
            <a:spLocks noGrp="1"/>
          </p:cNvSpPr>
          <p:nvPr>
            <p:ph type="title"/>
          </p:nvPr>
        </p:nvSpPr>
        <p:spPr>
          <a:xfrm>
            <a:off x="457199" y="274638"/>
            <a:ext cx="8837407" cy="1143000"/>
          </a:xfrm>
        </p:spPr>
        <p:txBody>
          <a:bodyPr>
            <a:normAutofit fontScale="90000"/>
          </a:bodyPr>
          <a:lstStyle/>
          <a:p>
            <a:r>
              <a:rPr lang="en-US" b="1" dirty="0"/>
              <a:t>W</a:t>
            </a:r>
            <a:r>
              <a:rPr lang="en-IL" b="1" dirty="0"/>
              <a:t>hich performance metric do we care about 1.1</a:t>
            </a:r>
          </a:p>
        </p:txBody>
      </p:sp>
      <p:sp>
        <p:nvSpPr>
          <p:cNvPr id="3" name="Content Placeholder 2">
            <a:extLst>
              <a:ext uri="{FF2B5EF4-FFF2-40B4-BE49-F238E27FC236}">
                <a16:creationId xmlns:a16="http://schemas.microsoft.com/office/drawing/2014/main" id="{2994D53A-6409-9248-35D2-CF3EB3BE8768}"/>
              </a:ext>
            </a:extLst>
          </p:cNvPr>
          <p:cNvSpPr>
            <a:spLocks noGrp="1"/>
          </p:cNvSpPr>
          <p:nvPr>
            <p:ph idx="1"/>
          </p:nvPr>
        </p:nvSpPr>
        <p:spPr/>
        <p:txBody>
          <a:bodyPr>
            <a:normAutofit/>
          </a:bodyPr>
          <a:lstStyle/>
          <a:p>
            <a:r>
              <a:rPr lang="en-IL" b="1" dirty="0"/>
              <a:t>ROC-AUC</a:t>
            </a:r>
            <a:r>
              <a:rPr lang="en-IL" dirty="0"/>
              <a:t>. It measures how well the model orders clickers above non-clickers across all thresholds, and it's threshold-independent — so you're not penalizing a model just because a default 0.5 threshhold.</a:t>
            </a:r>
          </a:p>
          <a:p>
            <a:r>
              <a:rPr lang="en-IL" dirty="0"/>
              <a:t>GBM wins when it comes to </a:t>
            </a:r>
            <a:r>
              <a:rPr lang="en-IL" b="1" dirty="0"/>
              <a:t>ROC-AUC</a:t>
            </a:r>
            <a:r>
              <a:rPr lang="en-IL" dirty="0"/>
              <a:t>.</a:t>
            </a:r>
          </a:p>
        </p:txBody>
      </p:sp>
    </p:spTree>
    <p:extLst>
      <p:ext uri="{BB962C8B-B14F-4D97-AF65-F5344CB8AC3E}">
        <p14:creationId xmlns:p14="http://schemas.microsoft.com/office/powerpoint/2010/main" val="2601841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3CB2C-950A-0C86-3CC9-2EEDD39F7C68}"/>
              </a:ext>
            </a:extLst>
          </p:cNvPr>
          <p:cNvSpPr>
            <a:spLocks noGrp="1"/>
          </p:cNvSpPr>
          <p:nvPr>
            <p:ph type="title"/>
          </p:nvPr>
        </p:nvSpPr>
        <p:spPr/>
        <p:txBody>
          <a:bodyPr>
            <a:normAutofit fontScale="90000"/>
          </a:bodyPr>
          <a:lstStyle/>
          <a:p>
            <a:r>
              <a:rPr lang="en-US" b="1" dirty="0"/>
              <a:t>W</a:t>
            </a:r>
            <a:r>
              <a:rPr lang="en-IL" b="1" dirty="0"/>
              <a:t>hich performance metric do we care about 1.2</a:t>
            </a:r>
            <a:endParaRPr lang="en-IL" dirty="0"/>
          </a:p>
        </p:txBody>
      </p:sp>
      <p:sp>
        <p:nvSpPr>
          <p:cNvPr id="3" name="Content Placeholder 2">
            <a:extLst>
              <a:ext uri="{FF2B5EF4-FFF2-40B4-BE49-F238E27FC236}">
                <a16:creationId xmlns:a16="http://schemas.microsoft.com/office/drawing/2014/main" id="{449D0F45-CA72-76FA-D3FC-8FCA84746E1B}"/>
              </a:ext>
            </a:extLst>
          </p:cNvPr>
          <p:cNvSpPr>
            <a:spLocks noGrp="1"/>
          </p:cNvSpPr>
          <p:nvPr>
            <p:ph idx="1"/>
          </p:nvPr>
        </p:nvSpPr>
        <p:spPr/>
        <p:txBody>
          <a:bodyPr/>
          <a:lstStyle/>
          <a:p>
            <a:r>
              <a:rPr lang="en-IL" b="1" dirty="0"/>
              <a:t>Accuracy: </a:t>
            </a:r>
            <a:r>
              <a:rPr lang="en-IL" dirty="0"/>
              <a:t>With ~75% non-clickers, a model that predicts "no click" for everyone scores 75% accuracy while being useless. Notice NB has the highest accuracy (0.6977) but the worst AUC among the top two.</a:t>
            </a:r>
          </a:p>
        </p:txBody>
      </p:sp>
    </p:spTree>
    <p:extLst>
      <p:ext uri="{BB962C8B-B14F-4D97-AF65-F5344CB8AC3E}">
        <p14:creationId xmlns:p14="http://schemas.microsoft.com/office/powerpoint/2010/main" val="3737981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D49D-B213-F794-1CA9-8F7A27454B02}"/>
              </a:ext>
            </a:extLst>
          </p:cNvPr>
          <p:cNvSpPr>
            <a:spLocks noGrp="1"/>
          </p:cNvSpPr>
          <p:nvPr>
            <p:ph type="title"/>
          </p:nvPr>
        </p:nvSpPr>
        <p:spPr>
          <a:xfrm>
            <a:off x="457199" y="274638"/>
            <a:ext cx="9805595" cy="1143000"/>
          </a:xfrm>
        </p:spPr>
        <p:txBody>
          <a:bodyPr>
            <a:normAutofit fontScale="90000"/>
          </a:bodyPr>
          <a:lstStyle/>
          <a:p>
            <a:r>
              <a:rPr lang="en-US" b="1" dirty="0"/>
              <a:t>W</a:t>
            </a:r>
            <a:r>
              <a:rPr lang="en-IL" b="1" dirty="0"/>
              <a:t>hich performance metric do we care about 1.3</a:t>
            </a:r>
            <a:endParaRPr lang="en-IL" dirty="0"/>
          </a:p>
        </p:txBody>
      </p:sp>
      <p:sp>
        <p:nvSpPr>
          <p:cNvPr id="3" name="Content Placeholder 2">
            <a:extLst>
              <a:ext uri="{FF2B5EF4-FFF2-40B4-BE49-F238E27FC236}">
                <a16:creationId xmlns:a16="http://schemas.microsoft.com/office/drawing/2014/main" id="{8CB7758C-21AB-EFF9-3AED-DA8B88895995}"/>
              </a:ext>
            </a:extLst>
          </p:cNvPr>
          <p:cNvSpPr>
            <a:spLocks noGrp="1"/>
          </p:cNvSpPr>
          <p:nvPr>
            <p:ph idx="1"/>
          </p:nvPr>
        </p:nvSpPr>
        <p:spPr>
          <a:xfrm>
            <a:off x="457200" y="1600200"/>
            <a:ext cx="9665746" cy="4525963"/>
          </a:xfrm>
        </p:spPr>
        <p:txBody>
          <a:bodyPr>
            <a:normAutofit/>
          </a:bodyPr>
          <a:lstStyle/>
          <a:p>
            <a:r>
              <a:rPr lang="en-IL" b="1" dirty="0"/>
              <a:t>Precision vs Recall</a:t>
            </a:r>
            <a:r>
              <a:rPr lang="en-IL" dirty="0"/>
              <a:t> depends:</a:t>
            </a:r>
          </a:p>
          <a:p>
            <a:r>
              <a:rPr lang="en-IL" dirty="0"/>
              <a:t>If we are paying money for each show, precision matters more — every false positive costs us.</a:t>
            </a:r>
          </a:p>
          <a:p>
            <a:r>
              <a:rPr lang="en-IL" dirty="0"/>
              <a:t>If it is cheap to show ad, expensive to miss a buyer, recall matters more.</a:t>
            </a:r>
          </a:p>
          <a:p>
            <a:r>
              <a:rPr lang="en-IL" dirty="0"/>
              <a:t>If costs are roughly balanced, </a:t>
            </a:r>
            <a:r>
              <a:rPr lang="en-IL" b="1" dirty="0"/>
              <a:t>F1</a:t>
            </a:r>
            <a:r>
              <a:rPr lang="en-IL" dirty="0"/>
              <a:t> captures both. GBM wins on F1 too (0.5330).</a:t>
            </a:r>
          </a:p>
          <a:p>
            <a:endParaRPr lang="en-IL" dirty="0"/>
          </a:p>
        </p:txBody>
      </p:sp>
    </p:spTree>
    <p:extLst>
      <p:ext uri="{BB962C8B-B14F-4D97-AF65-F5344CB8AC3E}">
        <p14:creationId xmlns:p14="http://schemas.microsoft.com/office/powerpoint/2010/main" val="2281073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Final Evaluation on Test</a:t>
            </a:r>
          </a:p>
        </p:txBody>
      </p:sp>
      <p:sp>
        <p:nvSpPr>
          <p:cNvPr id="3" name="Content Placeholder 2"/>
          <p:cNvSpPr>
            <a:spLocks noGrp="1"/>
          </p:cNvSpPr>
          <p:nvPr>
            <p:ph idx="1"/>
          </p:nvPr>
        </p:nvSpPr>
        <p:spPr/>
        <p:txBody>
          <a:bodyPr/>
          <a:lstStyle/>
          <a:p>
            <a:r>
              <a:rPr sz="2000"/>
              <a:t>Refit GBM on train + val combined</a:t>
            </a:r>
          </a:p>
          <a:p>
            <a:r>
              <a:rPr sz="2000"/>
              <a:t>Predict once on the held-out test set</a:t>
            </a:r>
          </a:p>
          <a:p>
            <a:r>
              <a:rPr sz="2000"/>
              <a:t>Accuracy 0.78 / Precision 0.66 / Recall 0.24 / F1 0.35 / AUC 0.76</a:t>
            </a:r>
          </a:p>
          <a:p>
            <a:r>
              <a:rPr sz="2000"/>
              <a:t>Recall is low — model misses ~3 of every 4 clicks</a:t>
            </a:r>
          </a:p>
          <a:p>
            <a:r>
              <a:rPr sz="2000"/>
              <a:t>Two ways to fix: resampling, or threshold tuning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Class Imbalance — Resampling</a:t>
            </a:r>
          </a:p>
        </p:txBody>
      </p:sp>
      <p:sp>
        <p:nvSpPr>
          <p:cNvPr id="3" name="Content Placeholder 2"/>
          <p:cNvSpPr>
            <a:spLocks noGrp="1"/>
          </p:cNvSpPr>
          <p:nvPr>
            <p:ph idx="1"/>
          </p:nvPr>
        </p:nvSpPr>
        <p:spPr/>
        <p:txBody>
          <a:bodyPr/>
          <a:lstStyle/>
          <a:p>
            <a:r>
              <a:rPr sz="2000" dirty="0"/>
              <a:t>Tried: None, ROS, RUS, SMOTE, </a:t>
            </a:r>
            <a:r>
              <a:rPr sz="2000" dirty="0" err="1"/>
              <a:t>SMOTETomek</a:t>
            </a:r>
            <a:endParaRPr sz="2000" dirty="0"/>
          </a:p>
          <a:p>
            <a:r>
              <a:rPr sz="2000" dirty="0"/>
              <a:t>Resampling fires only during fit — </a:t>
            </a:r>
            <a:r>
              <a:rPr sz="2000" dirty="0" err="1"/>
              <a:t>val</a:t>
            </a:r>
            <a:r>
              <a:rPr sz="2000" dirty="0"/>
              <a:t>/test stay real</a:t>
            </a:r>
          </a:p>
          <a:p>
            <a:r>
              <a:rPr sz="2000" dirty="0"/>
              <a:t>Best on F1: RUS (~0.52) and ROS (~0.51)</a:t>
            </a:r>
          </a:p>
          <a:p>
            <a:r>
              <a:rPr sz="2000" dirty="0"/>
              <a:t>Trade-off: higher recall, lower precision</a:t>
            </a:r>
          </a:p>
          <a:p>
            <a:r>
              <a:rPr sz="2000" dirty="0"/>
              <a:t>AUC barely moves — same ranking, different cutoff behavior</a:t>
            </a:r>
          </a:p>
        </p:txBody>
      </p:sp>
      <p:pic>
        <p:nvPicPr>
          <p:cNvPr id="5" name="Picture 4">
            <a:extLst>
              <a:ext uri="{FF2B5EF4-FFF2-40B4-BE49-F238E27FC236}">
                <a16:creationId xmlns:a16="http://schemas.microsoft.com/office/drawing/2014/main" id="{1E00DDD2-790A-1704-D303-147FAED11A2A}"/>
              </a:ext>
            </a:extLst>
          </p:cNvPr>
          <p:cNvPicPr>
            <a:picLocks noChangeAspect="1"/>
          </p:cNvPicPr>
          <p:nvPr/>
        </p:nvPicPr>
        <p:blipFill>
          <a:blip r:embed="rId2"/>
          <a:stretch>
            <a:fillRect/>
          </a:stretch>
        </p:blipFill>
        <p:spPr>
          <a:xfrm>
            <a:off x="344246" y="3429000"/>
            <a:ext cx="10079914" cy="33051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AE27-4F2C-A395-1378-6C170DEBAF94}"/>
              </a:ext>
            </a:extLst>
          </p:cNvPr>
          <p:cNvSpPr>
            <a:spLocks noGrp="1"/>
          </p:cNvSpPr>
          <p:nvPr>
            <p:ph type="title"/>
          </p:nvPr>
        </p:nvSpPr>
        <p:spPr/>
        <p:txBody>
          <a:bodyPr/>
          <a:lstStyle/>
          <a:p>
            <a:r>
              <a:rPr lang="en-US" dirty="0"/>
              <a:t>F</a:t>
            </a:r>
            <a:r>
              <a:rPr lang="en-IL" dirty="0"/>
              <a:t>uture improvements</a:t>
            </a:r>
          </a:p>
        </p:txBody>
      </p:sp>
      <p:sp>
        <p:nvSpPr>
          <p:cNvPr id="3" name="Content Placeholder 2">
            <a:extLst>
              <a:ext uri="{FF2B5EF4-FFF2-40B4-BE49-F238E27FC236}">
                <a16:creationId xmlns:a16="http://schemas.microsoft.com/office/drawing/2014/main" id="{EA8FC8B4-C1BA-7A65-613D-CAB756BE19F3}"/>
              </a:ext>
            </a:extLst>
          </p:cNvPr>
          <p:cNvSpPr>
            <a:spLocks noGrp="1"/>
          </p:cNvSpPr>
          <p:nvPr>
            <p:ph idx="1"/>
          </p:nvPr>
        </p:nvSpPr>
        <p:spPr/>
        <p:txBody>
          <a:bodyPr/>
          <a:lstStyle/>
          <a:p>
            <a:r>
              <a:rPr lang="en-IL" b="1" dirty="0"/>
              <a:t>K-fold cross-validation</a:t>
            </a:r>
          </a:p>
          <a:p>
            <a:r>
              <a:rPr lang="en-IL" dirty="0"/>
              <a:t>Right now decisions ride on a single val split — noisy when comparing close-performing options.</a:t>
            </a:r>
          </a:p>
          <a:p>
            <a:endParaRPr lang="en-IL" dirty="0"/>
          </a:p>
        </p:txBody>
      </p:sp>
    </p:spTree>
    <p:extLst>
      <p:ext uri="{BB962C8B-B14F-4D97-AF65-F5344CB8AC3E}">
        <p14:creationId xmlns:p14="http://schemas.microsoft.com/office/powerpoint/2010/main" val="2935232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14604-EC24-1D8C-4C26-DA61EC08AE21}"/>
              </a:ext>
            </a:extLst>
          </p:cNvPr>
          <p:cNvSpPr>
            <a:spLocks noGrp="1"/>
          </p:cNvSpPr>
          <p:nvPr>
            <p:ph type="title"/>
          </p:nvPr>
        </p:nvSpPr>
        <p:spPr/>
        <p:txBody>
          <a:bodyPr/>
          <a:lstStyle/>
          <a:p>
            <a:r>
              <a:rPr lang="en-US" dirty="0"/>
              <a:t>F</a:t>
            </a:r>
            <a:r>
              <a:rPr lang="en-IL" dirty="0"/>
              <a:t>uture improvements</a:t>
            </a:r>
          </a:p>
        </p:txBody>
      </p:sp>
      <p:sp>
        <p:nvSpPr>
          <p:cNvPr id="3" name="Content Placeholder 2">
            <a:extLst>
              <a:ext uri="{FF2B5EF4-FFF2-40B4-BE49-F238E27FC236}">
                <a16:creationId xmlns:a16="http://schemas.microsoft.com/office/drawing/2014/main" id="{08ABC722-F42B-A05E-FBDF-EB080417474D}"/>
              </a:ext>
            </a:extLst>
          </p:cNvPr>
          <p:cNvSpPr>
            <a:spLocks noGrp="1"/>
          </p:cNvSpPr>
          <p:nvPr>
            <p:ph idx="1"/>
          </p:nvPr>
        </p:nvSpPr>
        <p:spPr>
          <a:xfrm>
            <a:off x="457200" y="1600200"/>
            <a:ext cx="10569388" cy="4525963"/>
          </a:xfrm>
        </p:spPr>
        <p:txBody>
          <a:bodyPr/>
          <a:lstStyle/>
          <a:p>
            <a:r>
              <a:rPr lang="en-IL" dirty="0"/>
              <a:t>Imputation (num):  median, mean, const 0, const -1, KNN</a:t>
            </a:r>
          </a:p>
          <a:p>
            <a:r>
              <a:rPr lang="en-IL" dirty="0"/>
              <a:t>Imputation (cat): 'missing' constant, mode</a:t>
            </a:r>
          </a:p>
          <a:p>
            <a:r>
              <a:rPr lang="en-IL" dirty="0"/>
              <a:t>Cat encoder: Target, Frequency/Count</a:t>
            </a:r>
          </a:p>
          <a:p>
            <a:r>
              <a:rPr lang="en-IL" dirty="0"/>
              <a:t>Scaling: None, Standard, Robust</a:t>
            </a:r>
          </a:p>
          <a:p>
            <a:r>
              <a:rPr lang="en-IL" dirty="0"/>
              <a:t>Model: LR (L1/L2/Elastic), (LightGBM/XGBoost/CatBoost), RandomForest</a:t>
            </a:r>
          </a:p>
          <a:p>
            <a:r>
              <a:rPr lang="en-US" dirty="0"/>
              <a:t>H</a:t>
            </a:r>
            <a:r>
              <a:rPr lang="en-IL" dirty="0"/>
              <a:t>yper params</a:t>
            </a:r>
          </a:p>
        </p:txBody>
      </p:sp>
    </p:spTree>
    <p:extLst>
      <p:ext uri="{BB962C8B-B14F-4D97-AF65-F5344CB8AC3E}">
        <p14:creationId xmlns:p14="http://schemas.microsoft.com/office/powerpoint/2010/main" val="515935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94E49-520F-5F4C-1144-FAA1A5A58AB0}"/>
              </a:ext>
            </a:extLst>
          </p:cNvPr>
          <p:cNvSpPr>
            <a:spLocks noGrp="1"/>
          </p:cNvSpPr>
          <p:nvPr>
            <p:ph type="title"/>
          </p:nvPr>
        </p:nvSpPr>
        <p:spPr>
          <a:xfrm>
            <a:off x="1683572" y="2286000"/>
            <a:ext cx="8229600" cy="1143000"/>
          </a:xfrm>
        </p:spPr>
        <p:txBody>
          <a:bodyPr/>
          <a:lstStyle/>
          <a:p>
            <a:r>
              <a:rPr lang="en-US" dirty="0"/>
              <a:t>Thank You!</a:t>
            </a:r>
            <a:endParaRPr lang="en-IL" dirty="0"/>
          </a:p>
        </p:txBody>
      </p:sp>
      <p:sp>
        <p:nvSpPr>
          <p:cNvPr id="3" name="Content Placeholder 2">
            <a:extLst>
              <a:ext uri="{FF2B5EF4-FFF2-40B4-BE49-F238E27FC236}">
                <a16:creationId xmlns:a16="http://schemas.microsoft.com/office/drawing/2014/main" id="{ADBEE132-525B-B3E9-894A-6323175D31CF}"/>
              </a:ext>
            </a:extLst>
          </p:cNvPr>
          <p:cNvSpPr>
            <a:spLocks noGrp="1"/>
          </p:cNvSpPr>
          <p:nvPr>
            <p:ph idx="1"/>
          </p:nvPr>
        </p:nvSpPr>
        <p:spPr>
          <a:xfrm>
            <a:off x="457200" y="4206240"/>
            <a:ext cx="9455972" cy="1919923"/>
          </a:xfrm>
        </p:spPr>
        <p:txBody>
          <a:bodyPr/>
          <a:lstStyle/>
          <a:p>
            <a:pPr marL="0" indent="0">
              <a:buNone/>
            </a:pPr>
            <a:r>
              <a:rPr lang="en-US" dirty="0"/>
              <a:t>R</a:t>
            </a:r>
            <a:r>
              <a:rPr lang="en-IL" dirty="0"/>
              <a:t>epo: </a:t>
            </a:r>
            <a:r>
              <a:rPr lang="en-US" dirty="0">
                <a:solidFill>
                  <a:schemeClr val="tx2"/>
                </a:solidFill>
              </a:rPr>
              <a:t>https://</a:t>
            </a:r>
            <a:r>
              <a:rPr lang="en-US" dirty="0" err="1">
                <a:solidFill>
                  <a:schemeClr val="tx2"/>
                </a:solidFill>
              </a:rPr>
              <a:t>github.com</a:t>
            </a:r>
            <a:r>
              <a:rPr lang="en-US" dirty="0">
                <a:solidFill>
                  <a:schemeClr val="tx2"/>
                </a:solidFill>
              </a:rPr>
              <a:t>/DavidZeff1/</a:t>
            </a:r>
            <a:r>
              <a:rPr lang="en-US" dirty="0" err="1">
                <a:solidFill>
                  <a:schemeClr val="tx2"/>
                </a:solidFill>
              </a:rPr>
              <a:t>proj_click_ad</a:t>
            </a:r>
            <a:endParaRPr lang="en-IL" dirty="0">
              <a:solidFill>
                <a:schemeClr val="tx2"/>
              </a:solidFill>
            </a:endParaRPr>
          </a:p>
        </p:txBody>
      </p:sp>
    </p:spTree>
    <p:extLst>
      <p:ext uri="{BB962C8B-B14F-4D97-AF65-F5344CB8AC3E}">
        <p14:creationId xmlns:p14="http://schemas.microsoft.com/office/powerpoint/2010/main" val="3871535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109</TotalTime>
  <Words>1052</Words>
  <Application>Microsoft Macintosh PowerPoint</Application>
  <PresentationFormat>Widescreen</PresentationFormat>
  <Paragraphs>107</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Consumer Ad Click Prediction</vt:lpstr>
      <vt:lpstr>The Data</vt:lpstr>
      <vt:lpstr>The Problem</vt:lpstr>
      <vt:lpstr>Guiding Philosophy</vt:lpstr>
      <vt:lpstr>1.1 EDA Findings</vt:lpstr>
      <vt:lpstr>1.2 EDA Findings</vt:lpstr>
      <vt:lpstr>1.3 EDA Findings</vt:lpstr>
      <vt:lpstr>1.4 EDA Findings</vt:lpstr>
      <vt:lpstr>1.5 EDA Findings</vt:lpstr>
      <vt:lpstr>2.0 Preprocessing Pipeline</vt:lpstr>
      <vt:lpstr>2.1 Preprocessing Pipeline</vt:lpstr>
      <vt:lpstr>2.2 Preprocessing Pipeline</vt:lpstr>
      <vt:lpstr>2.3 Preprocessing Pipeline</vt:lpstr>
      <vt:lpstr>2.3 Preprocessing Pipeline</vt:lpstr>
      <vt:lpstr>2.4 Preprocessing Pipeline</vt:lpstr>
      <vt:lpstr>2.5 Preprocessing Pipeline</vt:lpstr>
      <vt:lpstr>3. Feature Importance</vt:lpstr>
      <vt:lpstr>4. Train / Val / Test Split</vt:lpstr>
      <vt:lpstr>5. Model Comparison on Val</vt:lpstr>
      <vt:lpstr>Results</vt:lpstr>
      <vt:lpstr>Which performance metric do we care about 1.1</vt:lpstr>
      <vt:lpstr>Which performance metric do we care about 1.2</vt:lpstr>
      <vt:lpstr>Which performance metric do we care about 1.3</vt:lpstr>
      <vt:lpstr>6. Final Evaluation on Test</vt:lpstr>
      <vt:lpstr>7. Class Imbalance — Resampling</vt:lpstr>
      <vt:lpstr>Future improvements</vt:lpstr>
      <vt:lpstr>Future improvements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zeff</cp:lastModifiedBy>
  <cp:revision>2</cp:revision>
  <dcterms:created xsi:type="dcterms:W3CDTF">2013-01-27T09:14:16Z</dcterms:created>
  <dcterms:modified xsi:type="dcterms:W3CDTF">2026-05-12T21:09:08Z</dcterms:modified>
  <cp:category/>
</cp:coreProperties>
</file>