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668"/>
  </p:normalViewPr>
  <p:slideViewPr>
    <p:cSldViewPr snapToGrid="0" snapToObjects="1">
      <p:cViewPr varScale="1">
        <p:scale>
          <a:sx n="116" d="100"/>
          <a:sy n="116" d="100"/>
        </p:scale>
        <p:origin x="208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412480" y="365760"/>
            <a:ext cx="3776472" cy="649224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5B54A"/>
                </a:solidFill>
                <a:latin typeface="Calibri"/>
              </a:rPr>
              <a:t>MACHINE LEARNING  · 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77724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Consumer Ad</a:t>
            </a:r>
          </a:p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Click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206240"/>
            <a:ext cx="1097280" cy="3600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</a:rPr>
              <a:t>Predicting click-through on the Criteo 1M 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5B54A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73152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FFFFFF"/>
                </a:solidFill>
                <a:latin typeface="Calibri"/>
              </a:rPr>
              <a:t>Fathema Othm</a:t>
            </a:r>
            <a:r>
              <a:rPr lang="en-US" sz="1800" b="0" i="0" dirty="0">
                <a:solidFill>
                  <a:srgbClr val="FFFFFF"/>
                </a:solidFill>
                <a:latin typeface="Calibri"/>
              </a:rPr>
              <a:t>a</a:t>
            </a:r>
            <a:r>
              <a:rPr sz="1800" b="0" i="0" dirty="0">
                <a:solidFill>
                  <a:srgbClr val="FFFFFF"/>
                </a:solidFill>
                <a:latin typeface="Calibri"/>
              </a:rPr>
              <a:t>n   ·   Lotam Ben </a:t>
            </a:r>
            <a:r>
              <a:rPr sz="1800" b="0" i="0" dirty="0" err="1">
                <a:solidFill>
                  <a:srgbClr val="FFFFFF"/>
                </a:solidFill>
                <a:latin typeface="Calibri"/>
              </a:rPr>
              <a:t>Yakove</a:t>
            </a:r>
            <a:r>
              <a:rPr sz="1800" b="0" i="0" dirty="0">
                <a:solidFill>
                  <a:srgbClr val="FFFFFF"/>
                </a:solidFill>
                <a:latin typeface="Calibri"/>
              </a:rPr>
              <a:t>   ·   David Zeff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60320"/>
            <a:ext cx="3776472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0" b="1" i="0">
                <a:solidFill>
                  <a:srgbClr val="FFFFFF"/>
                </a:solidFill>
                <a:latin typeface="Calibri"/>
              </a:rPr>
              <a:t>CTR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7764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0B2545"/>
                </a:solidFill>
                <a:latin typeface="Calibri"/>
              </a:rPr>
              <a:t>CLICK · NO-CLICK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The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02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8521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1 million rows of user impressions, labeled clicked or not clicked.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Data is encrypted to maintain user privacy.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Example: a column 'age' becomes int_col_1 with no semantics.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This removes intuition — we rely on experimentation.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828800"/>
            <a:ext cx="493776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66560" y="1828800"/>
            <a:ext cx="4937760" cy="32918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1847088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ORIGINAL (illustrative)</a:t>
            </a:r>
          </a:p>
        </p:txBody>
      </p:sp>
      <p:pic>
        <p:nvPicPr>
          <p:cNvPr id="14" name="Picture 13" descr="slide2_shap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240280"/>
            <a:ext cx="4663440" cy="1417320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9006840" y="3767328"/>
            <a:ext cx="457200" cy="384048"/>
          </a:xfrm>
          <a:prstGeom prst="downArrow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766560" y="4251960"/>
            <a:ext cx="493776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766560" y="4251960"/>
            <a:ext cx="4937760" cy="329184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4270248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AFTER ENCRYPTION</a:t>
            </a:r>
          </a:p>
        </p:txBody>
      </p:sp>
      <p:pic>
        <p:nvPicPr>
          <p:cNvPr id="19" name="Picture 18" descr="slide2_shap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4663440"/>
            <a:ext cx="4663440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03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We want to predict if a user clicked on an ad or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21488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2926080"/>
            <a:ext cx="2148840" cy="914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06324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2A9D8F"/>
                </a:solidFill>
                <a:latin typeface="Calibri"/>
              </a:rPr>
              <a:t>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70332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6B7586"/>
                </a:solidFill>
                <a:latin typeface="Calibri"/>
              </a:rPr>
              <a:t>rows in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39" y="2926080"/>
            <a:ext cx="21488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34639" y="2926080"/>
            <a:ext cx="2148840" cy="9144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34639" y="306324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EE6C4D"/>
                </a:solidFill>
                <a:latin typeface="Calibri"/>
              </a:rPr>
              <a:t>~25%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370332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6B7586"/>
                </a:solidFill>
                <a:latin typeface="Calibri"/>
              </a:rPr>
              <a:t>positive (click)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59" y="2926080"/>
            <a:ext cx="21488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66359" y="2926080"/>
            <a:ext cx="2148840" cy="91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66359" y="306324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0B2545"/>
                </a:solidFill>
                <a:latin typeface="Calibr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70332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6B7586"/>
                </a:solidFill>
                <a:latin typeface="Calibri"/>
              </a:rPr>
              <a:t>features (13 num + 26 cat)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1920240"/>
            <a:ext cx="402336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46720" y="2286000"/>
            <a:ext cx="3474720" cy="1188720"/>
          </a:xfrm>
          <a:prstGeom prst="roundRect">
            <a:avLst/>
          </a:prstGeom>
          <a:solidFill>
            <a:srgbClr val="EE6C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0" y="2286000"/>
            <a:ext cx="347472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“Should I click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or not?”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3657600"/>
            <a:ext cx="3108960" cy="24688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3657600"/>
            <a:ext cx="3108960" cy="2468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0" b="0" i="0">
                <a:solidFill>
                  <a:srgbClr val="0B2545"/>
                </a:solidFill>
                <a:latin typeface="Calibri"/>
              </a:rPr>
              <a:t>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Guiding Philosophy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04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7498079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Columns are hashed — we can't reason about meaning.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So: test multiple alternatives at every decision point.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Let the validation set decide.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206240"/>
            <a:ext cx="8511988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4206240"/>
            <a:ext cx="91440" cy="2103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DECISIONS TESTED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00600"/>
            <a:ext cx="667512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800600"/>
            <a:ext cx="66751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4800600"/>
            <a:ext cx="1472184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4800600"/>
            <a:ext cx="1472184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imbalance fix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36391" y="4800600"/>
            <a:ext cx="1069848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36391" y="4800600"/>
            <a:ext cx="1069848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threshold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5968" y="4800600"/>
            <a:ext cx="868680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15968" y="4800600"/>
            <a:ext cx="8686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encoder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94375" y="4800600"/>
            <a:ext cx="768096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94375" y="4800600"/>
            <a:ext cx="76809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scaler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199" y="4800600"/>
            <a:ext cx="868680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199" y="4800600"/>
            <a:ext cx="8686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imputer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0607" y="4800600"/>
            <a:ext cx="1773936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50607" y="4800600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outlier handling</a:t>
            </a:r>
          </a:p>
        </p:txBody>
      </p:sp>
      <p:pic>
        <p:nvPicPr>
          <p:cNvPr id="28" name="Picture 27" descr="slide4_shap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903" y="1819656"/>
            <a:ext cx="3383280" cy="2194560"/>
          </a:xfrm>
          <a:prstGeom prst="rect">
            <a:avLst/>
          </a:prstGeom>
        </p:spPr>
      </p:pic>
      <p:pic>
        <p:nvPicPr>
          <p:cNvPr id="29" name="Picture 28" descr="slide4_shap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9855" y="4151376"/>
            <a:ext cx="33832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EDA FINDINGS  ·  1/5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~25% Positive — Imbalanced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Target ~25% positive — imbalanced classes.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Keep this in mind for cutoff threshold and resampling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828800"/>
            <a:ext cx="589788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5_shap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55321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EDA FINDINGS  ·  2/5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Heavy Missingness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06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Heavy missingness in several numeric columns.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Affects how we deal with missing data downstream.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828800"/>
            <a:ext cx="589788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6_shap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55321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EDA FINDINGS  ·  3/5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Skewed Numerics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07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Some numerics span 0 → millions (heavy skew).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Important for models that assume specific distributions.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828800"/>
            <a:ext cx="589788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7_shap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55321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EDA FINDINGS  ·  4/5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High Categorical Cardinality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08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Categorical cardinality ranges from ~10 to &gt;100,000 unique values.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Drives the encoding choice: one-hot is infeasible for high-cardinality columns;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ordinal or target encoding is more practical.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828800"/>
            <a:ext cx="589788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8_shap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55321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EDA FINDINGS  ·  5/5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No Single Giveaway 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09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No feature that "gives away" the target (no 100% correlation).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No single feature with high correlation to the target.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Signal will need to come from the combination of features.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828800"/>
            <a:ext cx="589788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9_shap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55321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2  ·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Preprocessing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10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5836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EDA gave us hints — but for the baseline, we keep preprocessing simple.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We don't fully apply EDA insights yet — we want a clean baseline first.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Later iterations can be more precise and surgical.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828800"/>
            <a:ext cx="448056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0" y="1965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B7586"/>
                </a:solidFill>
                <a:latin typeface="Calibri"/>
              </a:rPr>
              <a:t>PIPELINE STAGES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2468880"/>
            <a:ext cx="3931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0" y="246888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Outlier cap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182112"/>
            <a:ext cx="3931920" cy="5029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89520" y="3182112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Impute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3895344"/>
            <a:ext cx="3931920" cy="50292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0" y="3895344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4608576"/>
            <a:ext cx="3931920" cy="502920"/>
          </a:xfrm>
          <a:prstGeom prst="rect">
            <a:avLst/>
          </a:prstGeom>
          <a:solidFill>
            <a:srgbClr val="E5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89520" y="4608576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5321808"/>
            <a:ext cx="3931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89520" y="5321808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ColumnTransformer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PREPROCESSING PIPELINE  ·  STEP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Outlier Capping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11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7772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Clip numerics at the 1st and 99th percentile.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Drop the extremes to normalize early models.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Simple, robust starting 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920240"/>
            <a:ext cx="301752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6B7586"/>
                </a:solidFill>
                <a:latin typeface="Calibr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46888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0" b="1" i="0">
                <a:solidFill>
                  <a:srgbClr val="EE6C4D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5029200"/>
            <a:ext cx="2651760" cy="12801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61120" y="5029200"/>
            <a:ext cx="530352" cy="128016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2545"/>
                </a:solidFill>
                <a:latin typeface="Calibri"/>
              </a:rPr>
              <a:t>1 /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PREPROCESSING PIPELINE  ·  STEP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Numeric Imputation: Median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12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7772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Replace nulls in numeric columns with the column median.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Just a baseline.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Other strategies (mean, KNN, constants) come later in the shootout.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920240"/>
            <a:ext cx="301752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6B7586"/>
                </a:solidFill>
                <a:latin typeface="Calibr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46888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0" b="1" i="0">
                <a:solidFill>
                  <a:srgbClr val="EE6C4D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5029200"/>
            <a:ext cx="2651760" cy="12801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61120" y="5029200"/>
            <a:ext cx="1060704" cy="128016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2545"/>
                </a:solidFill>
                <a:latin typeface="Calibri"/>
              </a:rPr>
              <a:t>2 /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PREPROCESSING PIPELINE  ·  STEP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Categorical Imputation: 'missing'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13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7772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Replace nulls in categorical columns with the literal text 'missing'.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Again, a baseline.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Mode imputation is a natural alternative to try next.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920240"/>
            <a:ext cx="301752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6B7586"/>
                </a:solidFill>
                <a:latin typeface="Calibr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46888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0" b="1" i="0">
                <a:solidFill>
                  <a:srgbClr val="EE6C4D"/>
                </a:solidFill>
                <a:latin typeface="Calibri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5029200"/>
            <a:ext cx="2651760" cy="12801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61120" y="5029200"/>
            <a:ext cx="1591055" cy="128016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2545"/>
                </a:solidFill>
                <a:latin typeface="Calibri"/>
              </a:rPr>
              <a:t>3 /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PREPROCESSING PIPELINE  ·  STEP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Categorical Encoding: Ordinal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14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7772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OrdinalEncoder for high-cardinality categoricals.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One-hot is too costly given many categorical columns have huge cardinalities.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Target encoding is a strong follow-up to 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920240"/>
            <a:ext cx="301752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6B7586"/>
                </a:solidFill>
                <a:latin typeface="Calibr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46888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0" b="1" i="0">
                <a:solidFill>
                  <a:srgbClr val="EE6C4D"/>
                </a:solidFill>
                <a:latin typeface="Calibri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5029200"/>
            <a:ext cx="2651760" cy="12801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61120" y="5029200"/>
            <a:ext cx="2121408" cy="128016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2545"/>
                </a:solidFill>
                <a:latin typeface="Calibri"/>
              </a:rPr>
              <a:t>4 /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PREPROCESSING PIPELINE  ·  STEP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Scaling: StandardScaler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7772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StandardScaler on numeric features.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Required for KNN and other distance-based models.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E6C4D"/>
                </a:solidFill>
                <a:latin typeface="Calibri"/>
              </a:rPr>
              <a:t>■  </a:t>
            </a:r>
            <a:r>
              <a:rPr sz="1800">
                <a:solidFill>
                  <a:srgbClr val="1F2A3B"/>
                </a:solidFill>
                <a:latin typeface="Calibri"/>
              </a:rPr>
              <a:t>Tree-based models are unaffected.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920240"/>
            <a:ext cx="301752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6B7586"/>
                </a:solidFill>
                <a:latin typeface="Calibr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46888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0" b="1" i="0">
                <a:solidFill>
                  <a:srgbClr val="EE6C4D"/>
                </a:solidFill>
                <a:latin typeface="Calibri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5029200"/>
            <a:ext cx="2651760" cy="12801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961120" y="5029200"/>
            <a:ext cx="2651760" cy="128016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257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2545"/>
                </a:solidFill>
                <a:latin typeface="Calibri"/>
              </a:rPr>
              <a:t>5 /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2  · 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One Pipeline, No Leakage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16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377440"/>
            <a:ext cx="941832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2377440"/>
            <a:ext cx="9418320" cy="109728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45920" y="2606040"/>
            <a:ext cx="8869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COLUMNTRANSFORMER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26080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Calibri"/>
              </a:rPr>
              <a:t>All wrapped in one ColumnTransformer.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794760"/>
            <a:ext cx="8869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1F2A3B"/>
                </a:solidFill>
                <a:latin typeface="Calibri"/>
              </a:rPr>
              <a:t>No leakage. Proper sequence of events. Issues minimized — fit on train only,</a:t>
            </a:r>
          </a:p>
          <a:p>
            <a:pPr algn="l"/>
            <a:r>
              <a:rPr sz="1600" b="0" i="0">
                <a:solidFill>
                  <a:srgbClr val="1F2A3B"/>
                </a:solidFill>
                <a:latin typeface="Calibri"/>
              </a:rPr>
              <a:t>transform on val/test using parameters learned from training.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029200"/>
            <a:ext cx="3017520" cy="731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02920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no leakage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029200"/>
            <a:ext cx="3017520" cy="731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63440" y="502920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reproducible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79" y="5029200"/>
            <a:ext cx="3017520" cy="731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502920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swappable steps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Feature Importance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17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49377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E6C4D"/>
                </a:solidFill>
                <a:latin typeface="Calibri"/>
              </a:rPr>
              <a:t>■  </a:t>
            </a:r>
            <a:r>
              <a:rPr sz="1700">
                <a:solidFill>
                  <a:srgbClr val="1F2A3B"/>
                </a:solidFill>
                <a:latin typeface="Calibri"/>
              </a:rPr>
              <a:t>Quick Random Forest on a 100k sample.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E6C4D"/>
                </a:solidFill>
                <a:latin typeface="Calibri"/>
              </a:rPr>
              <a:t>■  </a:t>
            </a:r>
            <a:r>
              <a:rPr sz="1700">
                <a:solidFill>
                  <a:srgbClr val="1F2A3B"/>
                </a:solidFill>
                <a:latin typeface="Calibri"/>
              </a:rPr>
              <a:t>Confirms the model isn't relying on one weird column.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E6C4D"/>
                </a:solidFill>
                <a:latin typeface="Calibri"/>
              </a:rPr>
              <a:t>■  </a:t>
            </a:r>
            <a:r>
              <a:rPr sz="1700">
                <a:solidFill>
                  <a:srgbClr val="1F2A3B"/>
                </a:solidFill>
                <a:latin typeface="Calibri"/>
              </a:rPr>
              <a:t>Signal is spread across multiple features — healthy.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828800"/>
            <a:ext cx="589788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17_shap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55321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Train / Val / Test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18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Stratified split: 60% / 20% / 20%.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Train (600k): fit models.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Val (200k): compare models, tune choices.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Test (200k): touched exactly once at the end.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Stratify preserves the ~25% positive rate everywhere.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43200"/>
            <a:ext cx="3127248" cy="8229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619488" y="2743200"/>
            <a:ext cx="1042416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661904" y="2743200"/>
            <a:ext cx="1042416" cy="82296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3127248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TRAIN 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743200"/>
            <a:ext cx="104241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VAL 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1904" y="2743200"/>
            <a:ext cx="104241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TEST 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03320"/>
            <a:ext cx="3127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6B7586"/>
                </a:solidFill>
                <a:latin typeface="Calibri"/>
              </a:rPr>
              <a:t>600k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9488" y="3703320"/>
            <a:ext cx="1042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6B7586"/>
                </a:solidFill>
                <a:latin typeface="Calibri"/>
              </a:rPr>
              <a:t>200k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1904" y="3703320"/>
            <a:ext cx="1042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6B7586"/>
                </a:solidFill>
                <a:latin typeface="Calibri"/>
              </a:rPr>
              <a:t>200k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5720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2545"/>
                </a:solidFill>
                <a:latin typeface="Calibri"/>
              </a:rPr>
              <a:t>STRATIFIED ON y  ·  ~25% positives in each split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Model Comparison on 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19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36576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36576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NB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2545"/>
                </a:solidFill>
                <a:latin typeface="Calibri"/>
              </a:rPr>
              <a:t>Naïve Bayes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Fast probabilistic baseline.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920240"/>
            <a:ext cx="36576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920240"/>
            <a:ext cx="3657600" cy="640080"/>
          </a:xfrm>
          <a:prstGeom prst="rect">
            <a:avLst/>
          </a:prstGeom>
          <a:solidFill>
            <a:srgbClr val="E5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89120" y="192024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KNN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4320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2545"/>
                </a:solidFill>
                <a:latin typeface="Calibri"/>
              </a:rPr>
              <a:t>K-Nearest Neighbors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Distance-based.</a:t>
            </a:r>
          </a:p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Fit on a 50k sample.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920240"/>
            <a:ext cx="36576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75320" y="1920240"/>
            <a:ext cx="3657600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320" y="192024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GBM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74320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2545"/>
                </a:solidFill>
                <a:latin typeface="Calibri"/>
              </a:rPr>
              <a:t>HistGradient</a:t>
            </a:r>
          </a:p>
          <a:p>
            <a:pPr algn="l"/>
            <a:r>
              <a:rPr sz="2000" b="1" i="0">
                <a:solidFill>
                  <a:srgbClr val="0B2545"/>
                </a:solidFill>
                <a:latin typeface="Calibri"/>
              </a:rPr>
              <a:t>Boosting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657600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Gradient-boosted trees.</a:t>
            </a:r>
          </a:p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Strong tabular baseline.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486400"/>
            <a:ext cx="1120140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5486400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METRICS:   accuracy   ·   precision   ·   recall   ·   F1   ·   ROC-AUC   ·   confusion matrix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5  ·  VAL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20 / 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103120"/>
          <a:ext cx="106984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3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39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739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7393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E6C4D"/>
                          </a:solidFill>
                          <a:latin typeface="Calibri"/>
                        </a:rPr>
                        <a:t>GBM</a:t>
                      </a:r>
                    </a:p>
                  </a:txBody>
                  <a:tcPr>
                    <a:solidFill>
                      <a:srgbClr val="FDE9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3B"/>
                          </a:solidFill>
                          <a:latin typeface="Calibri"/>
                        </a:rPr>
                        <a:t>0.6962</a:t>
                      </a:r>
                    </a:p>
                  </a:txBody>
                  <a:tcPr>
                    <a:solidFill>
                      <a:srgbClr val="FDE9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3B"/>
                          </a:solidFill>
                          <a:latin typeface="Calibri"/>
                        </a:rPr>
                        <a:t>0.4382</a:t>
                      </a:r>
                    </a:p>
                  </a:txBody>
                  <a:tcPr>
                    <a:solidFill>
                      <a:srgbClr val="FDE9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3B"/>
                          </a:solidFill>
                          <a:latin typeface="Calibri"/>
                        </a:rPr>
                        <a:t>0.6802</a:t>
                      </a:r>
                    </a:p>
                  </a:txBody>
                  <a:tcPr>
                    <a:solidFill>
                      <a:srgbClr val="FDE9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3B"/>
                          </a:solidFill>
                          <a:latin typeface="Calibri"/>
                        </a:rPr>
                        <a:t>0.5330</a:t>
                      </a:r>
                    </a:p>
                  </a:txBody>
                  <a:tcPr>
                    <a:solidFill>
                      <a:srgbClr val="FDE9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3B"/>
                          </a:solidFill>
                          <a:latin typeface="Calibri"/>
                        </a:rPr>
                        <a:t>0.7594</a:t>
                      </a:r>
                    </a:p>
                  </a:txBody>
                  <a:tcPr>
                    <a:solidFill>
                      <a:srgbClr val="FDE9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2545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0.6977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0.4151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0.4536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0.4335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0.6727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2545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0.5158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0.2912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0.6272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0.3978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3B"/>
                          </a:solidFill>
                          <a:latin typeface="Calibri"/>
                        </a:rPr>
                        <a:t>0.5790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586"/>
                </a:solidFill>
                <a:latin typeface="Calibri"/>
              </a:rPr>
              <a:t>GBM is the winner on ROC-AUC and F1 — highlighted in coral.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5  ·  DISCUSSION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Which Metric Matters?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21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42062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4206240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FOCUS METRIC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0B2545"/>
                </a:solidFill>
                <a:latin typeface="Calibri"/>
              </a:rPr>
              <a:t>ROC-AUC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011680"/>
            <a:ext cx="65836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ROC-AUC measures how well the model orders clickers above non-clickers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across all thresholds — it is threshold-independent.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Means you don't penalize a model for the default 0.5 cutoff.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GBM wins on ROC-AUC (0.7594).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5  ·  DISCUSSION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Which Metric Matters?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22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42062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4206240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FOCUS METRIC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0B2545"/>
                </a:solidFill>
                <a:latin typeface="Calibri"/>
              </a:rP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011680"/>
            <a:ext cx="65836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Accuracy is misleading on imbalanced data.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With ~75% non-clickers, "always predict no-click" scores 75% accuracy — useless.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NB has the highest accuracy (0.6977) but the worst AUC among the top two.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5  ·  DISCUSSION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Which Metric Matters?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23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42062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420624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FOCUS METRIC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0B2545"/>
                </a:solidFill>
                <a:latin typeface="Calibri"/>
              </a:rPr>
              <a:t>Precision</a:t>
            </a:r>
          </a:p>
          <a:p>
            <a:pPr algn="ctr"/>
            <a:r>
              <a:rPr sz="4200" b="1" i="0">
                <a:solidFill>
                  <a:srgbClr val="0B2545"/>
                </a:solidFill>
                <a:latin typeface="Calibri"/>
              </a:rPr>
              <a:t>vs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011680"/>
            <a:ext cx="65836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Pricey impressions → precision matters more (false positives cost us).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Cheap impressions, expensive misses → recall matters more.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If costs balance out → F1 captures both.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GBM also wins on F1 (0.5330).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Final Evaluation on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24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59436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Refit GBM on train + val combined.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Predict once on the held-out test set.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Recall is low — model misses ~3 of every 4 clicks.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E6C4D"/>
                </a:solidFill>
                <a:latin typeface="Calibri"/>
              </a:rPr>
              <a:t>■  </a:t>
            </a:r>
            <a:r>
              <a:rPr sz="1600">
                <a:solidFill>
                  <a:srgbClr val="1F2A3B"/>
                </a:solidFill>
                <a:latin typeface="Calibri"/>
              </a:rPr>
              <a:t>Two ways to fix: resampling, or threshold tuning.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920240"/>
            <a:ext cx="1645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675120" y="1920240"/>
            <a:ext cx="1645920" cy="7315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20574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B7586"/>
                </a:solidFill>
                <a:latin typeface="Calibri"/>
              </a:rPr>
              <a:t>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1645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2A9D8F"/>
                </a:solidFill>
                <a:latin typeface="Calibri"/>
              </a:rPr>
              <a:t>0.78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920240"/>
            <a:ext cx="1645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1920240"/>
            <a:ext cx="1645920" cy="7315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20574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B7586"/>
                </a:solidFill>
                <a:latin typeface="Calibri"/>
              </a:rPr>
              <a:t>PRECISION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23160"/>
            <a:ext cx="1645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0B2545"/>
                </a:solidFill>
                <a:latin typeface="Calibri"/>
              </a:rPr>
              <a:t>0.66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0" y="1920240"/>
            <a:ext cx="1645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241280" y="1920240"/>
            <a:ext cx="1645920" cy="73152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41280" y="205740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B7586"/>
                </a:solidFill>
                <a:latin typeface="Calibri"/>
              </a:rPr>
              <a:t>RECALL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423160"/>
            <a:ext cx="1645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EE6C4D"/>
                </a:solidFill>
                <a:latin typeface="Calibri"/>
              </a:rPr>
              <a:t>0.24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3566160"/>
            <a:ext cx="1645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75120" y="3566160"/>
            <a:ext cx="1645920" cy="73152"/>
          </a:xfrm>
          <a:prstGeom prst="rect">
            <a:avLst/>
          </a:prstGeom>
          <a:solidFill>
            <a:srgbClr val="E5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3703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B7586"/>
                </a:solidFill>
                <a:latin typeface="Calibri"/>
              </a:rPr>
              <a:t>F1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069080"/>
            <a:ext cx="1645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E5B54A"/>
                </a:solidFill>
                <a:latin typeface="Calibri"/>
              </a:rPr>
              <a:t>0.35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3566160"/>
            <a:ext cx="1645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458200" y="3566160"/>
            <a:ext cx="1645920" cy="7315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58200" y="3703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B7586"/>
                </a:solidFill>
                <a:latin typeface="Calibri"/>
              </a:rPr>
              <a:t>ROC-AUC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069080"/>
            <a:ext cx="16459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 i="0">
                <a:solidFill>
                  <a:srgbClr val="2A9D8F"/>
                </a:solidFill>
                <a:latin typeface="Calibri"/>
              </a:rPr>
              <a:t>0.76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37760"/>
            <a:ext cx="5943600" cy="1280160"/>
          </a:xfrm>
          <a:prstGeom prst="rect">
            <a:avLst/>
          </a:prstGeom>
          <a:solidFill>
            <a:srgbClr val="F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2920" y="4937760"/>
            <a:ext cx="91440" cy="128016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502920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E6C4D"/>
                </a:solidFill>
                <a:latin typeface="Calibri"/>
              </a:rPr>
              <a:t>⚠  LOW RECALL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44068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At a 0.5 cutoff, the model misses ~76% of real clicks.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Class Imbalance — Resampling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5303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E6C4D"/>
                </a:solidFill>
                <a:latin typeface="Calibri"/>
              </a:rPr>
              <a:t>■  </a:t>
            </a:r>
            <a:r>
              <a:rPr sz="1500">
                <a:solidFill>
                  <a:srgbClr val="1F2A3B"/>
                </a:solidFill>
                <a:latin typeface="Calibri"/>
              </a:rPr>
              <a:t>Tried: None, ROS, RUS, SMOTE, SMOTETomek.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E6C4D"/>
                </a:solidFill>
                <a:latin typeface="Calibri"/>
              </a:rPr>
              <a:t>■  </a:t>
            </a:r>
            <a:r>
              <a:rPr sz="1500">
                <a:solidFill>
                  <a:srgbClr val="1F2A3B"/>
                </a:solidFill>
                <a:latin typeface="Calibri"/>
              </a:rPr>
              <a:t>Resampling fires only during fit — val/test stay real.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E6C4D"/>
                </a:solidFill>
                <a:latin typeface="Calibri"/>
              </a:rPr>
              <a:t>■  </a:t>
            </a:r>
            <a:r>
              <a:rPr sz="1500">
                <a:solidFill>
                  <a:srgbClr val="1F2A3B"/>
                </a:solidFill>
                <a:latin typeface="Calibri"/>
              </a:rPr>
              <a:t>Best on F1: RUS (~0.52) and ROS (~0.51).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E6C4D"/>
                </a:solidFill>
                <a:latin typeface="Calibri"/>
              </a:rPr>
              <a:t>■  </a:t>
            </a:r>
            <a:r>
              <a:rPr sz="1500">
                <a:solidFill>
                  <a:srgbClr val="1F2A3B"/>
                </a:solidFill>
                <a:latin typeface="Calibri"/>
              </a:rPr>
              <a:t>Trade-off: higher recall, lower precision.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E6C4D"/>
                </a:solidFill>
                <a:latin typeface="Calibri"/>
              </a:rPr>
              <a:t>■  </a:t>
            </a:r>
            <a:r>
              <a:rPr sz="1500">
                <a:solidFill>
                  <a:srgbClr val="1F2A3B"/>
                </a:solidFill>
                <a:latin typeface="Calibri"/>
              </a:rPr>
              <a:t>AUC barely moves — same ranking, different cutoff behavior.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76072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25_shap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011680"/>
            <a:ext cx="53949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ROADMAP  · 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Future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26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1124712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011680"/>
            <a:ext cx="137160" cy="4114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9D8F"/>
                </a:solidFill>
                <a:latin typeface="Calibri"/>
              </a:rPr>
              <a:t>TECHNIQUE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5176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libri"/>
              </a:rPr>
              <a:t>K-Fold Cross-Validation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4048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F2A3B"/>
                </a:solidFill>
                <a:latin typeface="Calibri"/>
              </a:rPr>
              <a:t>Right now, decisions ride on a single validation split — which is</a:t>
            </a:r>
          </a:p>
          <a:p>
            <a:pPr algn="l"/>
            <a:r>
              <a:rPr sz="1800" b="0" i="0">
                <a:solidFill>
                  <a:srgbClr val="1F2A3B"/>
                </a:solidFill>
                <a:latin typeface="Calibri"/>
              </a:rPr>
              <a:t>noisy when comparing close-performing options. K-fold CV averages</a:t>
            </a:r>
          </a:p>
          <a:p>
            <a:pPr algn="l"/>
            <a:r>
              <a:rPr sz="1800" b="0" i="0">
                <a:solidFill>
                  <a:srgbClr val="1F2A3B"/>
                </a:solidFill>
                <a:latin typeface="Calibri"/>
              </a:rPr>
              <a:t>across multiple folds, giving more stable estimates and better</a:t>
            </a:r>
          </a:p>
          <a:p>
            <a:pPr algn="l"/>
            <a:r>
              <a:rPr sz="1800" b="0" i="0">
                <a:solidFill>
                  <a:srgbClr val="1F2A3B"/>
                </a:solidFill>
                <a:latin typeface="Calibri"/>
              </a:rPr>
              <a:t>judgement on which model / preprocessing path really wins.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64592" cy="8686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E6C4D"/>
                </a:solidFill>
                <a:latin typeface="Calibri"/>
              </a:rPr>
              <a:t>ROADMAP  · 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libri"/>
              </a:rPr>
              <a:t>Future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1463040" cy="228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E0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586"/>
                </a:solidFill>
                <a:latin typeface="Calibri"/>
              </a:rPr>
              <a:t>Consumer Ad Click Prediction  ·  Criteo CTR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B7586"/>
                </a:solidFill>
                <a:latin typeface="Calibri"/>
              </a:rPr>
              <a:t>27 /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920240"/>
            <a:ext cx="73152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libri"/>
              </a:rPr>
              <a:t>Imputation (num)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92024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median · mean · const 0 · const -1 · KNN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33472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2633472"/>
            <a:ext cx="73152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libri"/>
              </a:rPr>
              <a:t>Imputation (cat)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633472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'missing' constant · mode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73152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346704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libri"/>
              </a:rPr>
              <a:t>Cat encoder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346704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Target · Frequency / Count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59936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4059936"/>
            <a:ext cx="73152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059936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libri"/>
              </a:rPr>
              <a:t>Scaling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059936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None · Standard · Robust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773168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4773168"/>
            <a:ext cx="73152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773168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libri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773168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LR (L1 / L2 / Elastic) · LightGBM · XGBoost · CatBoost · RandomForest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86400"/>
            <a:ext cx="112471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5486400"/>
            <a:ext cx="73152" cy="64008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548640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libri"/>
              </a:rPr>
              <a:t>Hyperparameters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486400"/>
            <a:ext cx="75895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F2A3B"/>
                </a:solidFill>
                <a:latin typeface="Calibri"/>
              </a:rPr>
              <a:t>sweep over the winning family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E5B54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8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4297680"/>
            <a:ext cx="1188720" cy="36000"/>
          </a:xfrm>
          <a:prstGeom prst="rect">
            <a:avLst/>
          </a:prstGeom>
          <a:solidFill>
            <a:srgbClr val="EE6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0" y="4754880"/>
            <a:ext cx="576072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0" y="489204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B7586"/>
                </a:solidFill>
                <a:latin typeface="Calibri"/>
              </a:rPr>
              <a:t>PROJECT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257800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B2545"/>
                </a:solidFill>
                <a:latin typeface="Calibri"/>
              </a:rPr>
              <a:t>github.com/DavidZeff1/proj_click_ad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Fathema Othmn  ·  Lotam Ben Yakove  ·  David Zeff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1603</Words>
  <Application>Microsoft Macintosh PowerPoint</Application>
  <PresentationFormat>Widescreen</PresentationFormat>
  <Paragraphs>312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zeff</cp:lastModifiedBy>
  <cp:revision>3</cp:revision>
  <dcterms:created xsi:type="dcterms:W3CDTF">2013-01-27T09:14:16Z</dcterms:created>
  <dcterms:modified xsi:type="dcterms:W3CDTF">2026-05-13T16:04:15Z</dcterms:modified>
  <cp:category/>
</cp:coreProperties>
</file>